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7"/>
      </p:cViewPr>
      <p:guideLst>
        <p:guide orient="horz" pos="2880"/>
        <p:guide pos="2160"/>
        <p:guide orient="horz"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2400300"/>
            <a:ext cx="6400800" cy="120015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2932" y="1086978"/>
            <a:ext cx="9021537" cy="114551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2" y="1047540"/>
            <a:ext cx="9021537" cy="90435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2" y="2232487"/>
            <a:ext cx="9021537" cy="82899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129448"/>
            <a:ext cx="8229600" cy="1102519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7772400" cy="342900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714376"/>
            <a:ext cx="7772400" cy="1021556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1910953"/>
            <a:ext cx="7772400" cy="1003697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4629150"/>
            <a:ext cx="4000500" cy="3429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3" y="1782623"/>
            <a:ext cx="9013515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7" y="1756107"/>
            <a:ext cx="9013781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7" y="1851660"/>
            <a:ext cx="9014621" cy="3429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200150"/>
            <a:ext cx="1905000" cy="337185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200150"/>
            <a:ext cx="5715000" cy="337185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3675413"/>
            <a:ext cx="7315200" cy="391716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4084369"/>
            <a:ext cx="7315200" cy="51435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4629150"/>
            <a:ext cx="3886200" cy="3429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3512666"/>
            <a:ext cx="9006840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9" y="3487856"/>
            <a:ext cx="9006639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1" y="3579919"/>
            <a:ext cx="9006637" cy="3660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9" y="50007"/>
            <a:ext cx="9001873" cy="3436144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1"/>
            <a:ext cx="2011680" cy="4388644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05979"/>
            <a:ext cx="7772400" cy="85725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4643437"/>
            <a:ext cx="2476500" cy="357188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4657725"/>
            <a:ext cx="457200" cy="3429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hyperlink" Target="https://disk.yandex.ru/d/IDXXva3kYhvGjA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f"/>
          <p:cNvGrpSpPr/>
          <p:nvPr/>
        </p:nvGrpSpPr>
        <p:grpSpPr>
          <a:xfrm>
            <a:off x="-1" y="-62771"/>
            <a:ext cx="9144001" cy="5149121"/>
            <a:chOff x="-1" y="-7494"/>
            <a:chExt cx="9144001" cy="686549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1" y="-7494"/>
              <a:ext cx="9144000" cy="5135880"/>
            </a:xfrm>
            <a:custGeom>
              <a:avLst/>
              <a:gdLst/>
              <a:ahLst/>
              <a:cxnLst/>
              <a:rect l="l" t="t" r="r" b="b"/>
              <a:pathLst>
                <a:path w="9144000" h="5135880">
                  <a:moveTo>
                    <a:pt x="9144000" y="0"/>
                  </a:moveTo>
                  <a:lnTo>
                    <a:pt x="0" y="0"/>
                  </a:lnTo>
                  <a:lnTo>
                    <a:pt x="0" y="5135372"/>
                  </a:lnTo>
                  <a:lnTo>
                    <a:pt x="9144000" y="513537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102860"/>
              <a:ext cx="9143999" cy="1168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8386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9144000" y="4571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24729" y="3303936"/>
            <a:ext cx="174561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5A6278"/>
                </a:solidFill>
                <a:latin typeface="Arial"/>
                <a:cs typeface="Arial"/>
              </a:rPr>
              <a:t>Тип</a:t>
            </a:r>
            <a:r>
              <a:rPr sz="1400" b="1" spc="-100" dirty="0">
                <a:solidFill>
                  <a:srgbClr val="5A6278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A6278"/>
                </a:solidFill>
                <a:latin typeface="Arial"/>
                <a:cs typeface="Arial"/>
              </a:rPr>
              <a:t>работы:</a:t>
            </a:r>
            <a:r>
              <a:rPr sz="1400" b="1" spc="-75" dirty="0">
                <a:solidFill>
                  <a:srgbClr val="5A6278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A6278"/>
                </a:solidFill>
                <a:latin typeface="Microsoft Sans Serif"/>
                <a:cs typeface="Microsoft Sans Serif"/>
              </a:rPr>
              <a:t>Проект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67277" y="4508420"/>
            <a:ext cx="7175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50" dirty="0">
                <a:solidFill>
                  <a:srgbClr val="D3D3D5"/>
                </a:solidFill>
                <a:latin typeface="Times New Roman"/>
                <a:cs typeface="Times New Roman"/>
              </a:rPr>
              <a:t>И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14400" y="434852"/>
            <a:ext cx="77724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0" spc="-10" dirty="0">
                <a:solidFill>
                  <a:srgbClr val="5A6278"/>
                </a:solidFill>
                <a:latin typeface="Microsoft Sans Serif"/>
                <a:cs typeface="Microsoft Sans Serif"/>
              </a:rPr>
              <a:t>Государственное</a:t>
            </a:r>
            <a:r>
              <a:rPr sz="2000" b="0" spc="-45" dirty="0">
                <a:solidFill>
                  <a:srgbClr val="5A6278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5A6278"/>
                </a:solidFill>
                <a:latin typeface="Microsoft Sans Serif"/>
                <a:cs typeface="Microsoft Sans Serif"/>
              </a:rPr>
              <a:t>бюджетное</a:t>
            </a:r>
            <a:r>
              <a:rPr sz="2000" b="0" spc="-40" dirty="0">
                <a:solidFill>
                  <a:srgbClr val="5A6278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5A6278"/>
                </a:solidFill>
                <a:latin typeface="Microsoft Sans Serif"/>
                <a:cs typeface="Microsoft Sans Serif"/>
              </a:rPr>
              <a:t>общеобразовательное</a:t>
            </a:r>
            <a:r>
              <a:rPr sz="2000" b="0" spc="-65" dirty="0">
                <a:solidFill>
                  <a:srgbClr val="5A6278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5A6278"/>
                </a:solidFill>
                <a:latin typeface="Microsoft Sans Serif"/>
                <a:cs typeface="Microsoft Sans Serif"/>
              </a:rPr>
              <a:t>учреждение</a:t>
            </a:r>
            <a:endParaRPr sz="20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2000" b="0" dirty="0">
                <a:solidFill>
                  <a:srgbClr val="5A6278"/>
                </a:solidFill>
                <a:latin typeface="Microsoft Sans Serif"/>
                <a:cs typeface="Microsoft Sans Serif"/>
              </a:rPr>
              <a:t>города</a:t>
            </a:r>
            <a:r>
              <a:rPr sz="2000" b="0" spc="-85" dirty="0">
                <a:solidFill>
                  <a:srgbClr val="5A6278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5A6278"/>
                </a:solidFill>
                <a:latin typeface="Microsoft Sans Serif"/>
                <a:cs typeface="Microsoft Sans Serif"/>
              </a:rPr>
              <a:t>Москвы</a:t>
            </a:r>
            <a:r>
              <a:rPr sz="2000" b="0" spc="-50" dirty="0">
                <a:solidFill>
                  <a:srgbClr val="5A6278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5A6278"/>
                </a:solidFill>
                <a:latin typeface="Microsoft Sans Serif"/>
                <a:cs typeface="Microsoft Sans Serif"/>
              </a:rPr>
              <a:t>"Школа</a:t>
            </a:r>
            <a:r>
              <a:rPr sz="2000" b="0" spc="-50" dirty="0">
                <a:solidFill>
                  <a:srgbClr val="5A6278"/>
                </a:solidFill>
                <a:latin typeface="Microsoft Sans Serif"/>
                <a:cs typeface="Microsoft Sans Serif"/>
              </a:rPr>
              <a:t> </a:t>
            </a:r>
            <a:r>
              <a:rPr sz="2000" b="0" spc="140" dirty="0">
                <a:solidFill>
                  <a:srgbClr val="5A6278"/>
                </a:solidFill>
                <a:latin typeface="Microsoft Sans Serif"/>
                <a:cs typeface="Microsoft Sans Serif"/>
              </a:rPr>
              <a:t>№</a:t>
            </a:r>
            <a:r>
              <a:rPr sz="2000" b="0" spc="-40" dirty="0">
                <a:solidFill>
                  <a:srgbClr val="5A6278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5A6278"/>
                </a:solidFill>
                <a:latin typeface="Microsoft Sans Serif"/>
                <a:cs typeface="Microsoft Sans Serif"/>
              </a:rPr>
              <a:t>1363"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786C0A-AD5D-411B-DD1E-7B9C952A0C91}"/>
              </a:ext>
            </a:extLst>
          </p:cNvPr>
          <p:cNvSpPr txBox="1"/>
          <p:nvPr/>
        </p:nvSpPr>
        <p:spPr>
          <a:xfrm>
            <a:off x="2400299" y="1401893"/>
            <a:ext cx="4343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rgbClr val="FFC000"/>
                </a:solidFill>
              </a:rPr>
              <a:t>Проектная работа по теме </a:t>
            </a:r>
            <a:endParaRPr lang="en-US" sz="3000" b="1" dirty="0">
              <a:solidFill>
                <a:srgbClr val="FFC000"/>
              </a:solidFill>
            </a:endParaRPr>
          </a:p>
          <a:p>
            <a:pPr algn="ctr"/>
            <a:r>
              <a:rPr lang="en-US" sz="3000" b="1" dirty="0">
                <a:solidFill>
                  <a:srgbClr val="FFC000"/>
                </a:solidFill>
              </a:rPr>
              <a:t>“Brush and Canvas”</a:t>
            </a:r>
            <a:r>
              <a:rPr lang="ru-RU" sz="3000" b="1" dirty="0">
                <a:solidFill>
                  <a:srgbClr val="FFC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5416" y="1"/>
            <a:ext cx="5038344" cy="5795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04285" y="4844653"/>
            <a:ext cx="13061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ГБОУ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Школа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3E3E3E"/>
                </a:solidFill>
                <a:latin typeface="Microsoft Sans Serif"/>
                <a:cs typeface="Microsoft Sans Serif"/>
              </a:rPr>
              <a:t>1363</a:t>
            </a:r>
            <a:endParaRPr sz="12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2948" y="1194055"/>
          <a:ext cx="8963659" cy="2593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4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5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7683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ФИО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429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ОУ</a:t>
                      </a:r>
                      <a:r>
                        <a:rPr sz="12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класс</a:t>
                      </a:r>
                      <a:r>
                        <a:rPr sz="12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организация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0" dirty="0">
                          <a:latin typeface="Arial"/>
                          <a:cs typeface="Arial"/>
                        </a:rPr>
                        <a:t>и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должность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429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Функция</a:t>
                      </a:r>
                      <a:r>
                        <a:rPr sz="12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0" dirty="0">
                          <a:latin typeface="Arial"/>
                          <a:cs typeface="Arial"/>
                        </a:rPr>
                        <a:t>в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проекте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429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Задачи</a:t>
                      </a:r>
                      <a:r>
                        <a:rPr sz="12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в</a:t>
                      </a:r>
                      <a:r>
                        <a:rPr sz="12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проекте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429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6314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Иванов</a:t>
                      </a:r>
                      <a:r>
                        <a:rPr sz="1100" spc="-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20" dirty="0">
                          <a:latin typeface="Microsoft Sans Serif"/>
                          <a:cs typeface="Microsoft Sans Serif"/>
                        </a:rPr>
                        <a:t>Юрий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Игоревич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429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ГБОУ</a:t>
                      </a:r>
                      <a:r>
                        <a:rPr sz="11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Школа</a:t>
                      </a:r>
                      <a:r>
                        <a:rPr sz="11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105" dirty="0">
                          <a:latin typeface="Microsoft Sans Serif"/>
                          <a:cs typeface="Microsoft Sans Serif"/>
                        </a:rPr>
                        <a:t>№</a:t>
                      </a:r>
                      <a:r>
                        <a:rPr sz="11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1363,</a:t>
                      </a:r>
                      <a:r>
                        <a:rPr sz="11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учитель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информатики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429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Руководитель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429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8305" marR="131445" indent="-343535">
                        <a:lnSpc>
                          <a:spcPct val="100000"/>
                        </a:lnSpc>
                        <a:spcBef>
                          <a:spcPts val="465"/>
                        </a:spcBef>
                        <a:buAutoNum type="arabicPeriod"/>
                        <a:tabLst>
                          <a:tab pos="408305" algn="l"/>
                        </a:tabLst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Организация</a:t>
                      </a:r>
                      <a:r>
                        <a:rPr sz="1000" spc="2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работы</a:t>
                      </a:r>
                      <a:r>
                        <a:rPr sz="1000" spc="2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проектно </a:t>
                      </a: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й</a:t>
                      </a:r>
                      <a:r>
                        <a:rPr sz="10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команды.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407670" indent="-342900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/>
                        <a:tabLst>
                          <a:tab pos="407670" algn="l"/>
                        </a:tabLst>
                      </a:pP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Научное</a:t>
                      </a:r>
                      <a:r>
                        <a:rPr sz="10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сопровождение.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408305" marR="758190" indent="-343535">
                        <a:lnSpc>
                          <a:spcPts val="1520"/>
                        </a:lnSpc>
                        <a:spcBef>
                          <a:spcPts val="80"/>
                        </a:spcBef>
                        <a:buAutoNum type="arabicPeriod"/>
                        <a:tabLst>
                          <a:tab pos="408305" algn="l"/>
                        </a:tabLst>
                      </a:pPr>
                      <a:r>
                        <a:rPr sz="1000" spc="-20" dirty="0">
                          <a:latin typeface="Microsoft Sans Serif"/>
                          <a:cs typeface="Microsoft Sans Serif"/>
                        </a:rPr>
                        <a:t>Контроль</a:t>
                      </a:r>
                      <a:r>
                        <a:rPr sz="10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тестирования программы.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407670" indent="-342900">
                        <a:lnSpc>
                          <a:spcPts val="1555"/>
                        </a:lnSpc>
                        <a:buAutoNum type="arabicPeriod"/>
                        <a:tabLst>
                          <a:tab pos="407670" algn="l"/>
                        </a:tabLst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Помощь</a:t>
                      </a:r>
                      <a:r>
                        <a:rPr sz="10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0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реализации</a:t>
                      </a:r>
                      <a:r>
                        <a:rPr sz="1000" spc="-20" dirty="0">
                          <a:latin typeface="Microsoft Sans Serif"/>
                          <a:cs typeface="Microsoft Sans Serif"/>
                        </a:rPr>
                        <a:t> идей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429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6790">
                <a:tc>
                  <a:txBody>
                    <a:bodyPr/>
                    <a:lstStyle/>
                    <a:p>
                      <a:pPr marL="62865" marR="38036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spc="-30" dirty="0">
                          <a:latin typeface="Microsoft Sans Serif"/>
                          <a:cs typeface="Microsoft Sans Serif"/>
                        </a:rPr>
                        <a:t>Микерников 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Александр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4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Учащийся</a:t>
                      </a:r>
                      <a:r>
                        <a:rPr sz="11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dirty="0">
                          <a:latin typeface="Microsoft Sans Serif"/>
                          <a:cs typeface="Microsoft Sans Serif"/>
                        </a:rPr>
                        <a:t>8Б</a:t>
                      </a:r>
                      <a:r>
                        <a:rPr sz="11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класса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4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20574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spc="-25" dirty="0">
                          <a:latin typeface="Microsoft Sans Serif"/>
                          <a:cs typeface="Microsoft Sans Serif"/>
                        </a:rPr>
                        <a:t>Программист, Контент</a:t>
                      </a:r>
                      <a:r>
                        <a:rPr sz="11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00" spc="-60" dirty="0">
                          <a:latin typeface="Microsoft Sans Serif"/>
                          <a:cs typeface="Microsoft Sans Serif"/>
                        </a:rPr>
                        <a:t>- </a:t>
                      </a:r>
                      <a:r>
                        <a:rPr sz="1100" spc="-10" dirty="0">
                          <a:latin typeface="Microsoft Sans Serif"/>
                          <a:cs typeface="Microsoft Sans Serif"/>
                        </a:rPr>
                        <a:t>менеджер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4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670" indent="-342900">
                        <a:lnSpc>
                          <a:spcPct val="100000"/>
                        </a:lnSpc>
                        <a:spcBef>
                          <a:spcPts val="470"/>
                        </a:spcBef>
                        <a:buAutoNum type="arabicPeriod"/>
                        <a:tabLst>
                          <a:tab pos="407670" algn="l"/>
                        </a:tabLst>
                      </a:pP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Поиск</a:t>
                      </a:r>
                      <a:r>
                        <a:rPr sz="10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информации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407670" indent="-342900">
                        <a:lnSpc>
                          <a:spcPct val="100000"/>
                        </a:lnSpc>
                        <a:buAutoNum type="arabicPeriod"/>
                        <a:tabLst>
                          <a:tab pos="407670" algn="l"/>
                        </a:tabLst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Анализ</a:t>
                      </a:r>
                      <a:r>
                        <a:rPr sz="10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решений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407670" indent="-342900">
                        <a:lnSpc>
                          <a:spcPct val="100000"/>
                        </a:lnSpc>
                        <a:buAutoNum type="arabicPeriod"/>
                        <a:tabLst>
                          <a:tab pos="407670" algn="l"/>
                        </a:tabLst>
                      </a:pP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Написание</a:t>
                      </a: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latin typeface="Microsoft Sans Serif"/>
                          <a:cs typeface="Microsoft Sans Serif"/>
                        </a:rPr>
                        <a:t>кода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407670" indent="-342900">
                        <a:lnSpc>
                          <a:spcPts val="1560"/>
                        </a:lnSpc>
                        <a:spcBef>
                          <a:spcPts val="5"/>
                        </a:spcBef>
                        <a:buAutoNum type="arabicPeriod"/>
                        <a:tabLst>
                          <a:tab pos="407670" algn="l"/>
                        </a:tabLst>
                      </a:pP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Тестирование</a:t>
                      </a:r>
                      <a:r>
                        <a:rPr sz="10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и</a:t>
                      </a:r>
                      <a:r>
                        <a:rPr sz="10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отладка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408305" marR="779145" indent="-343535">
                        <a:lnSpc>
                          <a:spcPct val="100000"/>
                        </a:lnSpc>
                        <a:buAutoNum type="arabicPeriod"/>
                        <a:tabLst>
                          <a:tab pos="408305" algn="l"/>
                        </a:tabLst>
                      </a:pP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Подбор</a:t>
                      </a:r>
                      <a:r>
                        <a:rPr sz="10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материала</a:t>
                      </a:r>
                      <a:r>
                        <a:rPr sz="10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latin typeface="Microsoft Sans Serif"/>
                          <a:cs typeface="Microsoft Sans Serif"/>
                        </a:rPr>
                        <a:t>для </a:t>
                      </a: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прещентации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4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636" y="3430"/>
            <a:ext cx="8083296" cy="668654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4930" y="3032855"/>
          <a:ext cx="4284979" cy="1817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9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66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Преимущества: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90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Недостатки: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90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1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900" spc="2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Простой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интерфейс;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264160" marR="612140" indent="-172720">
                        <a:lnSpc>
                          <a:spcPct val="100000"/>
                        </a:lnSpc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900" spc="3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0" dirty="0">
                          <a:latin typeface="Microsoft Sans Serif"/>
                          <a:cs typeface="Microsoft Sans Serif"/>
                        </a:rPr>
                        <a:t>Удобно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и</a:t>
                      </a:r>
                      <a:r>
                        <a:rPr sz="9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быстро </a:t>
                      </a:r>
                      <a:r>
                        <a:rPr sz="900" spc="-20" dirty="0">
                          <a:latin typeface="Microsoft Sans Serif"/>
                          <a:cs typeface="Microsoft Sans Serif"/>
                        </a:rPr>
                        <a:t>создавать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5" dirty="0">
                          <a:latin typeface="Microsoft Sans Serif"/>
                          <a:cs typeface="Microsoft Sans Serif"/>
                        </a:rPr>
                        <a:t>заметки;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900" spc="3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Синхронизация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9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Google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900" spc="2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Удобная навигация;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264160" marR="311150" indent="-172720">
                        <a:lnSpc>
                          <a:spcPct val="100000"/>
                        </a:lnSpc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900" spc="3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Сохранение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в </a:t>
                      </a:r>
                      <a:r>
                        <a:rPr sz="900" spc="-20" dirty="0">
                          <a:latin typeface="Microsoft Sans Serif"/>
                          <a:cs typeface="Microsoft Sans Serif"/>
                        </a:rPr>
                        <a:t>формате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слайдов;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900" spc="2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Не</a:t>
                      </a:r>
                      <a:r>
                        <a:rPr sz="9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требует</a:t>
                      </a:r>
                      <a:r>
                        <a:rPr sz="9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установки;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900" spc="3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Нельзя</a:t>
                      </a:r>
                      <a:r>
                        <a:rPr sz="9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загружать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264160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презентации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90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30175" indent="94615">
                        <a:lnSpc>
                          <a:spcPct val="100000"/>
                        </a:lnSpc>
                        <a:spcBef>
                          <a:spcPts val="334"/>
                        </a:spcBef>
                        <a:buChar char="•"/>
                        <a:tabLst>
                          <a:tab pos="186690" algn="l"/>
                        </a:tabLst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Перестал</a:t>
                      </a:r>
                      <a:r>
                        <a:rPr sz="9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0" dirty="0">
                          <a:latin typeface="Microsoft Sans Serif"/>
                          <a:cs typeface="Microsoft Sans Serif"/>
                        </a:rPr>
                        <a:t>поддерживать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вообще.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92075" marR="89535" indent="94615">
                        <a:lnSpc>
                          <a:spcPct val="100000"/>
                        </a:lnSpc>
                        <a:buChar char="•"/>
                        <a:tabLst>
                          <a:tab pos="186690" algn="l"/>
                        </a:tabLst>
                      </a:pP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Ограничения</a:t>
                      </a:r>
                      <a:r>
                        <a:rPr sz="9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количества слайдов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90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61332" y="3012091"/>
          <a:ext cx="4391660" cy="18421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5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95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Преимущества: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71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Недостатки: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71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17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9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Работе</a:t>
                      </a:r>
                      <a:r>
                        <a:rPr sz="9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без</a:t>
                      </a:r>
                      <a:r>
                        <a:rPr sz="9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Интернета;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92710">
                        <a:lnSpc>
                          <a:spcPts val="1440"/>
                        </a:lnSpc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9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Много</a:t>
                      </a:r>
                      <a:r>
                        <a:rPr sz="9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функций;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92710" marR="271145">
                        <a:lnSpc>
                          <a:spcPct val="100000"/>
                        </a:lnSpc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9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0" dirty="0">
                          <a:latin typeface="Microsoft Sans Serif"/>
                          <a:cs typeface="Microsoft Sans Serif"/>
                        </a:rPr>
                        <a:t>Возможность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сохранять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слайды</a:t>
                      </a:r>
                      <a:r>
                        <a:rPr sz="9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и</a:t>
                      </a:r>
                      <a:r>
                        <a:rPr sz="9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скриншоты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9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0" dirty="0">
                          <a:latin typeface="Microsoft Sans Serif"/>
                          <a:cs typeface="Microsoft Sans Serif"/>
                        </a:rPr>
                        <a:t>Возможность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создавать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Microsoft Sans Serif"/>
                          <a:cs typeface="Microsoft Sans Serif"/>
                        </a:rPr>
                        <a:t>много</a:t>
                      </a:r>
                      <a:r>
                        <a:rPr sz="9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слайдов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9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685" marR="353695" indent="-180975">
                        <a:lnSpc>
                          <a:spcPct val="100000"/>
                        </a:lnSpc>
                        <a:spcBef>
                          <a:spcPts val="335"/>
                        </a:spcBef>
                        <a:buChar char="•"/>
                        <a:tabLst>
                          <a:tab pos="273685" algn="l"/>
                        </a:tabLst>
                      </a:pPr>
                      <a:r>
                        <a:rPr sz="900" spc="-20" dirty="0">
                          <a:latin typeface="Microsoft Sans Serif"/>
                          <a:cs typeface="Microsoft Sans Serif"/>
                        </a:rPr>
                        <a:t>Разный</a:t>
                      </a:r>
                      <a:r>
                        <a:rPr sz="9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интерфейс</a:t>
                      </a:r>
                      <a:r>
                        <a:rPr sz="9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5" dirty="0">
                          <a:latin typeface="Microsoft Sans Serif"/>
                          <a:cs typeface="Microsoft Sans Serif"/>
                        </a:rPr>
                        <a:t>на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Linux</a:t>
                      </a:r>
                      <a:r>
                        <a:rPr sz="9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и</a:t>
                      </a:r>
                      <a:r>
                        <a:rPr sz="9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Windows;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273685" marR="142875" indent="-180975">
                        <a:lnSpc>
                          <a:spcPts val="1440"/>
                        </a:lnSpc>
                        <a:spcBef>
                          <a:spcPts val="45"/>
                        </a:spcBef>
                        <a:buChar char="•"/>
                        <a:tabLst>
                          <a:tab pos="273685" algn="l"/>
                        </a:tabLst>
                      </a:pPr>
                      <a:r>
                        <a:rPr sz="900" dirty="0">
                          <a:latin typeface="Microsoft Sans Serif"/>
                          <a:cs typeface="Microsoft Sans Serif"/>
                        </a:rPr>
                        <a:t>Не</a:t>
                      </a:r>
                      <a:r>
                        <a:rPr sz="9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всегда</a:t>
                      </a:r>
                      <a:r>
                        <a:rPr sz="9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latin typeface="Microsoft Sans Serif"/>
                          <a:cs typeface="Microsoft Sans Serif"/>
                        </a:rPr>
                        <a:t>удобно</a:t>
                      </a:r>
                      <a:r>
                        <a:rPr sz="9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делать заметки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273685" indent="-180975">
                        <a:lnSpc>
                          <a:spcPts val="1395"/>
                        </a:lnSpc>
                        <a:buChar char="•"/>
                        <a:tabLst>
                          <a:tab pos="273685" algn="l"/>
                        </a:tabLst>
                      </a:pPr>
                      <a:r>
                        <a:rPr sz="900" spc="-25" dirty="0">
                          <a:latin typeface="Microsoft Sans Serif"/>
                          <a:cs typeface="Microsoft Sans Serif"/>
                        </a:rPr>
                        <a:t>Долгое</a:t>
                      </a:r>
                      <a:r>
                        <a:rPr sz="9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переключение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273685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между</a:t>
                      </a:r>
                      <a:r>
                        <a:rPr sz="9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решениями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273685" marR="237490" indent="-180975">
                        <a:lnSpc>
                          <a:spcPct val="100000"/>
                        </a:lnSpc>
                        <a:buChar char="•"/>
                        <a:tabLst>
                          <a:tab pos="273685" algn="l"/>
                        </a:tabLst>
                      </a:pPr>
                      <a:r>
                        <a:rPr sz="900" spc="-20" dirty="0">
                          <a:latin typeface="Microsoft Sans Serif"/>
                          <a:cs typeface="Microsoft Sans Serif"/>
                        </a:rPr>
                        <a:t>Требуется</a:t>
                      </a:r>
                      <a:r>
                        <a:rPr sz="9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установки</a:t>
                      </a:r>
                      <a:r>
                        <a:rPr sz="9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5" dirty="0">
                          <a:latin typeface="Microsoft Sans Serif"/>
                          <a:cs typeface="Microsoft Sans Serif"/>
                        </a:rPr>
                        <a:t>на </a:t>
                      </a:r>
                      <a:r>
                        <a:rPr sz="900" spc="-10" dirty="0">
                          <a:latin typeface="Microsoft Sans Serif"/>
                          <a:cs typeface="Microsoft Sans Serif"/>
                        </a:rPr>
                        <a:t>компьютер.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9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1047750"/>
            <a:ext cx="3668267" cy="14778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57800" y="1047750"/>
            <a:ext cx="3130423" cy="14738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00200" y="2724150"/>
            <a:ext cx="14351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Google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Jamboard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24600" y="2724150"/>
            <a:ext cx="9804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Open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Board</a:t>
            </a:r>
            <a:endParaRPr sz="1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076" y="171451"/>
            <a:ext cx="8083296" cy="66865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3247" y="1041625"/>
            <a:ext cx="8228330" cy="123418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9200"/>
              </a:lnSpc>
              <a:spcBef>
                <a:spcPts val="120"/>
              </a:spcBef>
            </a:pP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Вывод:</a:t>
            </a:r>
            <a:r>
              <a:rPr sz="2000" b="0" spc="-7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проанализировав</a:t>
            </a:r>
            <a:r>
              <a:rPr sz="2000" b="0" spc="-7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приведенные</a:t>
            </a:r>
            <a:r>
              <a:rPr sz="2000" b="0" spc="-7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выше</a:t>
            </a:r>
            <a:r>
              <a:rPr sz="2000" b="0" spc="-3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решения</a:t>
            </a:r>
            <a:r>
              <a:rPr sz="2000" b="0" spc="-5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было</a:t>
            </a:r>
            <a:r>
              <a:rPr sz="2000" b="0" spc="-1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принято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рещение</a:t>
            </a:r>
            <a:r>
              <a:rPr sz="2000" b="0" spc="-8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создать,</a:t>
            </a:r>
            <a:r>
              <a:rPr sz="2000" b="0" spc="-8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что-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то</a:t>
            </a:r>
            <a:r>
              <a:rPr sz="2000" b="0" spc="-6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подобное.</a:t>
            </a:r>
            <a:r>
              <a:rPr sz="2000" b="0" spc="-6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30" dirty="0">
                <a:solidFill>
                  <a:srgbClr val="000000"/>
                </a:solidFill>
                <a:latin typeface="Microsoft Sans Serif"/>
                <a:cs typeface="Microsoft Sans Serif"/>
              </a:rPr>
              <a:t>Данный</a:t>
            </a:r>
            <a:r>
              <a:rPr sz="2000" b="0" spc="-7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продукт</a:t>
            </a:r>
            <a:r>
              <a:rPr sz="2000" b="0" spc="-30" dirty="0">
                <a:solidFill>
                  <a:srgbClr val="000000"/>
                </a:solidFill>
                <a:latin typeface="Microsoft Sans Serif"/>
                <a:cs typeface="Microsoft Sans Serif"/>
              </a:rPr>
              <a:t> сможет</a:t>
            </a:r>
            <a:r>
              <a:rPr sz="2000" b="0" spc="-9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помочь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учителю</a:t>
            </a:r>
            <a:r>
              <a:rPr sz="2000" b="0" spc="-7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делать</a:t>
            </a:r>
            <a:r>
              <a:rPr sz="2000" b="0" spc="-6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быстрые</a:t>
            </a:r>
            <a:r>
              <a:rPr sz="2000" b="0" spc="-3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40" dirty="0">
                <a:solidFill>
                  <a:srgbClr val="000000"/>
                </a:solidFill>
                <a:latin typeface="Microsoft Sans Serif"/>
                <a:cs typeface="Microsoft Sans Serif"/>
              </a:rPr>
              <a:t>заметки</a:t>
            </a:r>
            <a:r>
              <a:rPr sz="2000" b="0" spc="-9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и</a:t>
            </a:r>
            <a:r>
              <a:rPr sz="2000" b="0" spc="-4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с</a:t>
            </a:r>
            <a:r>
              <a:rPr sz="2000" b="0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экономит</a:t>
            </a:r>
            <a:r>
              <a:rPr sz="2000" b="0" spc="-6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время</a:t>
            </a:r>
            <a:r>
              <a:rPr sz="2000" b="0" spc="-4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при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объяснение</a:t>
            </a:r>
            <a:r>
              <a:rPr sz="2000" b="0" spc="-8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материала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33350"/>
            <a:ext cx="2240280" cy="66865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1000" y="819150"/>
            <a:ext cx="799020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0" marR="5080" indent="-318135" algn="just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pos="332740" algn="l"/>
              </a:tabLst>
            </a:pPr>
            <a:r>
              <a:rPr sz="2000" spc="-20" dirty="0">
                <a:latin typeface="Microsoft Sans Serif"/>
                <a:cs typeface="Microsoft Sans Serif"/>
              </a:rPr>
              <a:t>Разработать</a:t>
            </a:r>
            <a:r>
              <a:rPr sz="2000" spc="-30" dirty="0">
                <a:latin typeface="Microsoft Sans Serif"/>
                <a:cs typeface="Microsoft Sans Serif"/>
              </a:rPr>
              <a:t> веб-</a:t>
            </a:r>
            <a:r>
              <a:rPr sz="2000" dirty="0">
                <a:latin typeface="Microsoft Sans Serif"/>
                <a:cs typeface="Microsoft Sans Serif"/>
              </a:rPr>
              <a:t>приложение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для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создания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рукописных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заметок 	</a:t>
            </a:r>
            <a:r>
              <a:rPr sz="2000" dirty="0">
                <a:latin typeface="Microsoft Sans Serif"/>
                <a:cs typeface="Microsoft Sans Serif"/>
              </a:rPr>
              <a:t>и</a:t>
            </a:r>
            <a:r>
              <a:rPr sz="2000" spc="204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презентаций,</a:t>
            </a:r>
            <a:r>
              <a:rPr sz="2000" spc="2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которое</a:t>
            </a:r>
            <a:r>
              <a:rPr sz="2000" spc="2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будет</a:t>
            </a:r>
            <a:r>
              <a:rPr sz="2000" spc="2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доступно</a:t>
            </a:r>
            <a:r>
              <a:rPr sz="2000" spc="2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для</a:t>
            </a:r>
            <a:r>
              <a:rPr sz="2000" spc="20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использования</a:t>
            </a:r>
            <a:r>
              <a:rPr sz="2000" spc="20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на 	</a:t>
            </a:r>
            <a:r>
              <a:rPr sz="2000" dirty="0">
                <a:latin typeface="Microsoft Sans Serif"/>
                <a:cs typeface="Microsoft Sans Serif"/>
              </a:rPr>
              <a:t>любом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устройстве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с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браузером.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ownloads\Задачи проекта - visual selection.png"/>
          <p:cNvPicPr>
            <a:picLocks noChangeAspect="1" noChangeArrowheads="1"/>
          </p:cNvPicPr>
          <p:nvPr/>
        </p:nvPicPr>
        <p:blipFill>
          <a:blip r:embed="rId2" cstate="print"/>
          <a:srcRect t="11314" b="5245"/>
          <a:stretch>
            <a:fillRect/>
          </a:stretch>
        </p:blipFill>
        <p:spPr bwMode="auto">
          <a:xfrm>
            <a:off x="1524000" y="514350"/>
            <a:ext cx="5928255" cy="4495800"/>
          </a:xfrm>
          <a:prstGeom prst="rect">
            <a:avLst/>
          </a:prstGeom>
          <a:noFill/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57150"/>
            <a:ext cx="3209544" cy="7098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33350"/>
            <a:ext cx="8033004" cy="658368"/>
          </a:xfrm>
          <a:prstGeom prst="rect">
            <a:avLst/>
          </a:prstGeom>
        </p:spPr>
      </p:pic>
      <p:pic>
        <p:nvPicPr>
          <p:cNvPr id="1026" name="Picture 2" descr="C:\Users\User\Downloads\Этапы работы над проектом - visual selection (1).png"/>
          <p:cNvPicPr>
            <a:picLocks noChangeAspect="1" noChangeArrowheads="1"/>
          </p:cNvPicPr>
          <p:nvPr/>
        </p:nvPicPr>
        <p:blipFill>
          <a:blip r:embed="rId3" cstate="print"/>
          <a:srcRect t="18113" b="7170"/>
          <a:stretch>
            <a:fillRect/>
          </a:stretch>
        </p:blipFill>
        <p:spPr bwMode="auto">
          <a:xfrm>
            <a:off x="990600" y="819150"/>
            <a:ext cx="6629400" cy="40266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192023"/>
            <a:ext cx="3899916" cy="6583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6547" y="1243013"/>
            <a:ext cx="21526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Анализ</a:t>
            </a:r>
            <a:r>
              <a:rPr sz="1800" spc="-1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конкурентов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16171" y="1053857"/>
            <a:ext cx="39655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Выбор</a:t>
            </a:r>
            <a:r>
              <a:rPr sz="1800" b="0" spc="-5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1800" b="0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языка</a:t>
            </a:r>
            <a:r>
              <a:rPr sz="18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1800" b="0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программирования</a:t>
            </a:r>
            <a:r>
              <a:rPr sz="1800" b="0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 для </a:t>
            </a:r>
            <a:r>
              <a:rPr sz="18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реализации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989" y="1602200"/>
            <a:ext cx="4512183" cy="19554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52897" y="1989269"/>
            <a:ext cx="3756750" cy="12766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674367" y="4925728"/>
            <a:ext cx="1306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ГБОУ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Школа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3E3E3E"/>
                </a:solidFill>
                <a:latin typeface="Microsoft Sans Serif"/>
                <a:cs typeface="Microsoft Sans Serif"/>
              </a:rPr>
              <a:t>1363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4639" y="181736"/>
            <a:ext cx="3314700" cy="66865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2095" y="1139619"/>
            <a:ext cx="237998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Microsoft Sans Serif"/>
                <a:cs typeface="Microsoft Sans Serif"/>
              </a:rPr>
              <a:t>Создание</a:t>
            </a:r>
            <a:r>
              <a:rPr sz="1800" spc="-1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примерного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Microsoft Sans Serif"/>
                <a:cs typeface="Microsoft Sans Serif"/>
              </a:rPr>
              <a:t>интерфейса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29528" y="2168843"/>
            <a:ext cx="193611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Microsoft Sans Serif"/>
                <a:cs typeface="Microsoft Sans Serif"/>
              </a:rPr>
              <a:t>Фрагмент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скрипта</a:t>
            </a:r>
            <a:endParaRPr sz="1800" dirty="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9572" y="1711070"/>
            <a:ext cx="8954770" cy="3121343"/>
            <a:chOff x="189572" y="2281427"/>
            <a:chExt cx="8954770" cy="416179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72" y="2281427"/>
              <a:ext cx="4060316" cy="21412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1399" y="3331514"/>
              <a:ext cx="6832600" cy="31115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674367" y="4925728"/>
            <a:ext cx="1306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ГБОУ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Школа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3E3E3E"/>
                </a:solidFill>
                <a:latin typeface="Microsoft Sans Serif"/>
                <a:cs typeface="Microsoft Sans Serif"/>
              </a:rPr>
              <a:t>1363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6935" y="137159"/>
            <a:ext cx="3314700" cy="600075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274" y="1221295"/>
          <a:ext cx="8910955" cy="26736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7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674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Дата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333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Ошибки</a:t>
                      </a:r>
                      <a:r>
                        <a:rPr sz="15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latin typeface="Arial"/>
                          <a:cs typeface="Arial"/>
                        </a:rPr>
                        <a:t>в</a:t>
                      </a:r>
                      <a:r>
                        <a:rPr sz="15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latin typeface="Arial"/>
                          <a:cs typeface="Arial"/>
                        </a:rPr>
                        <a:t>программе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Статус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333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96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Ноябрь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24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Сложности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созданием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слайдов</a:t>
                      </a:r>
                      <a:r>
                        <a:rPr sz="12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для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заметок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43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Исправлено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24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97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Декабрь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71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876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Проблемы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рисованием и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сохранением 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заметок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при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перемещении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по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слайдам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43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Исправлено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71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97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Январь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90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Обработка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событий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нажатия</a:t>
                      </a:r>
                      <a:r>
                        <a:rPr sz="12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кнопок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90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10" dirty="0">
                          <a:latin typeface="Palatino Linotype"/>
                          <a:cs typeface="Palatino Linotype"/>
                        </a:rPr>
                        <a:t>Исправлено</a:t>
                      </a:r>
                      <a:endParaRPr sz="1100">
                        <a:latin typeface="Palatino Linotype"/>
                        <a:cs typeface="Palatino Linotype"/>
                      </a:endParaRPr>
                    </a:p>
                  </a:txBody>
                  <a:tcPr marL="0" marR="0" marT="261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209550"/>
            <a:ext cx="4924290" cy="3657600"/>
            <a:chOff x="279919" y="0"/>
            <a:chExt cx="6029743" cy="46794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6367" y="0"/>
              <a:ext cx="5157216" cy="8778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919" y="1681815"/>
              <a:ext cx="6029743" cy="299765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18807" y="4059079"/>
            <a:ext cx="6879590" cy="886139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32740" marR="5080" indent="-320675">
              <a:lnSpc>
                <a:spcPts val="3240"/>
              </a:lnSpc>
              <a:spcBef>
                <a:spcPts val="509"/>
              </a:spcBef>
            </a:pPr>
            <a:r>
              <a:rPr sz="3000" spc="-10" dirty="0">
                <a:latin typeface="Corbel"/>
                <a:cs typeface="Corbel"/>
              </a:rPr>
              <a:t>Дополнительный</a:t>
            </a:r>
            <a:r>
              <a:rPr sz="3000" spc="-110" dirty="0">
                <a:latin typeface="Corbel"/>
                <a:cs typeface="Corbel"/>
              </a:rPr>
              <a:t> </a:t>
            </a:r>
            <a:r>
              <a:rPr sz="3000" spc="-10" dirty="0">
                <a:latin typeface="Corbel"/>
                <a:cs typeface="Corbel"/>
              </a:rPr>
              <a:t>материал: </a:t>
            </a:r>
            <a:r>
              <a:rPr sz="3000" u="sng" spc="-10" dirty="0">
                <a:solidFill>
                  <a:srgbClr val="168AB9"/>
                </a:solidFill>
                <a:uFill>
                  <a:solidFill>
                    <a:srgbClr val="168AB9"/>
                  </a:solidFill>
                </a:uFill>
                <a:latin typeface="Corbel"/>
                <a:cs typeface="Corbel"/>
                <a:hlinkClick r:id="rId4"/>
              </a:rPr>
              <a:t>https://disk.yandex.ru/d/IDXXva3kYhvGjA</a:t>
            </a:r>
            <a:endParaRPr sz="3000">
              <a:latin typeface="Corbel"/>
              <a:cs typeface="Corbe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43C0420-5CC7-F28F-6337-3D1E9A849B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241886"/>
            <a:ext cx="3126759" cy="24728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"/>
            <a:ext cx="9144000" cy="1141571"/>
            <a:chOff x="0" y="0"/>
            <a:chExt cx="9144000" cy="15220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18687"/>
              <a:ext cx="9143999" cy="10335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435861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19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1433830"/>
            </a:xfrm>
            <a:custGeom>
              <a:avLst/>
              <a:gdLst/>
              <a:ahLst/>
              <a:cxnLst/>
              <a:rect l="l" t="t" r="r" b="b"/>
              <a:pathLst>
                <a:path w="9144000" h="1433830">
                  <a:moveTo>
                    <a:pt x="9144000" y="0"/>
                  </a:moveTo>
                  <a:lnTo>
                    <a:pt x="0" y="0"/>
                  </a:lnTo>
                  <a:lnTo>
                    <a:pt x="0" y="1433702"/>
                  </a:lnTo>
                  <a:lnTo>
                    <a:pt x="9144000" y="143370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095" y="2551176"/>
            <a:ext cx="6437376" cy="3291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18807" y="1385173"/>
            <a:ext cx="419989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Microsoft Sans Serif"/>
                <a:cs typeface="Microsoft Sans Serif"/>
              </a:rPr>
              <a:t>Проект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30" dirty="0">
                <a:latin typeface="Microsoft Sans Serif"/>
                <a:cs typeface="Microsoft Sans Serif"/>
              </a:rPr>
              <a:t>может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работать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автономно; </a:t>
            </a:r>
            <a:r>
              <a:rPr sz="2000" dirty="0">
                <a:latin typeface="Microsoft Sans Serif"/>
                <a:cs typeface="Microsoft Sans Serif"/>
              </a:rPr>
              <a:t>Простой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и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понятный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интерфейс; Проект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работает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на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разных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ОС;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38200" y="194906"/>
            <a:ext cx="7772400" cy="753731"/>
          </a:xfrm>
          <a:prstGeom prst="rect">
            <a:avLst/>
          </a:prstGeom>
        </p:spPr>
        <p:txBody>
          <a:bodyPr vert="horz" wrap="square" lIns="0" tIns="197802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ru-RU" sz="3600" dirty="0">
                <a:solidFill>
                  <a:srgbClr val="FFC000"/>
                </a:solidFill>
                <a:latin typeface="Microsoft Sans Serif"/>
                <a:cs typeface="Microsoft Sans Serif"/>
              </a:rPr>
              <a:t>Преимущества </a:t>
            </a:r>
            <a:r>
              <a:rPr lang="ru-RU" sz="3600" dirty="0" err="1">
                <a:solidFill>
                  <a:srgbClr val="FFC000"/>
                </a:solidFill>
                <a:latin typeface="Microsoft Sans Serif"/>
                <a:cs typeface="Microsoft Sans Serif"/>
              </a:rPr>
              <a:t>ппрограммы</a:t>
            </a:r>
            <a:endParaRPr sz="3600" dirty="0">
              <a:solidFill>
                <a:srgbClr val="FFC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9306" y="3087053"/>
            <a:ext cx="7304405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Microsoft Sans Serif"/>
                <a:cs typeface="Microsoft Sans Serif"/>
              </a:rPr>
              <a:t>Добавление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-10" dirty="0" err="1">
                <a:latin typeface="Microsoft Sans Serif"/>
                <a:cs typeface="Microsoft Sans Serif"/>
              </a:rPr>
              <a:t>дополнительных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10" dirty="0" err="1">
                <a:latin typeface="Microsoft Sans Serif"/>
                <a:cs typeface="Microsoft Sans Serif"/>
              </a:rPr>
              <a:t>функций</a:t>
            </a:r>
            <a:r>
              <a:rPr lang="en-US" sz="2000" spc="-10" dirty="0">
                <a:latin typeface="Microsoft Sans Serif"/>
                <a:cs typeface="Microsoft Sans Serif"/>
              </a:rPr>
              <a:t>: </a:t>
            </a:r>
            <a:r>
              <a:rPr lang="ru-RU" sz="2000" spc="-10" dirty="0">
                <a:latin typeface="Microsoft Sans Serif"/>
                <a:cs typeface="Microsoft Sans Serif"/>
              </a:rPr>
              <a:t>индикатор слайдов, загрузка картинок, рисование фигур, сохранение в </a:t>
            </a:r>
            <a:r>
              <a:rPr lang="en-US" sz="2000" spc="-10" dirty="0" err="1">
                <a:latin typeface="Microsoft Sans Serif"/>
                <a:cs typeface="Microsoft Sans Serif"/>
              </a:rPr>
              <a:t>pdf</a:t>
            </a:r>
            <a:r>
              <a:rPr lang="en-US" sz="2000" spc="-10" dirty="0">
                <a:latin typeface="Microsoft Sans Serif"/>
                <a:cs typeface="Microsoft Sans Serif"/>
              </a:rPr>
              <a:t>, </a:t>
            </a:r>
            <a:r>
              <a:rPr lang="ru-RU" sz="2000" spc="-10" dirty="0">
                <a:latin typeface="Microsoft Sans Serif"/>
                <a:cs typeface="Microsoft Sans Serif"/>
              </a:rPr>
              <a:t>вызов к доске </a:t>
            </a:r>
            <a:r>
              <a:rPr lang="ru-RU" sz="2000" spc="-10" dirty="0" err="1">
                <a:latin typeface="Microsoft Sans Serif"/>
                <a:cs typeface="Microsoft Sans Serif"/>
              </a:rPr>
              <a:t>случайног</a:t>
            </a:r>
            <a:r>
              <a:rPr lang="ru-RU" sz="2000" spc="-10" dirty="0">
                <a:latin typeface="Microsoft Sans Serif"/>
                <a:cs typeface="Microsoft Sans Serif"/>
              </a:rPr>
              <a:t> учащегося.</a:t>
            </a: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Microsoft Sans Serif"/>
                <a:cs typeface="Microsoft Sans Serif"/>
              </a:rPr>
              <a:t>Адаптирование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интерфейса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для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30" dirty="0">
                <a:latin typeface="Microsoft Sans Serif"/>
                <a:cs typeface="Microsoft Sans Serif"/>
              </a:rPr>
              <a:t>образовательного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процесса;</a:t>
            </a: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Microsoft Sans Serif"/>
                <a:cs typeface="Microsoft Sans Serif"/>
              </a:rPr>
              <a:t>Проект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работает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на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разных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ОС.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152</TotalTime>
  <Words>354</Words>
  <Application>Microsoft Office PowerPoint</Application>
  <PresentationFormat>Экран (16:9)</PresentationFormat>
  <Paragraphs>84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3" baseType="lpstr">
      <vt:lpstr>Arial</vt:lpstr>
      <vt:lpstr>Calibri</vt:lpstr>
      <vt:lpstr>Cambria</vt:lpstr>
      <vt:lpstr>Corbel</vt:lpstr>
      <vt:lpstr>Franklin Gothic Book</vt:lpstr>
      <vt:lpstr>Microsoft Sans Serif</vt:lpstr>
      <vt:lpstr>Palatino Linotype</vt:lpstr>
      <vt:lpstr>Perpetua</vt:lpstr>
      <vt:lpstr>Times New Roman</vt:lpstr>
      <vt:lpstr>Wingdings 2</vt:lpstr>
      <vt:lpstr>Справедливость</vt:lpstr>
      <vt:lpstr>Государственное бюджетное общеобразовательное учреждение города Москвы "Школа № 1363"</vt:lpstr>
      <vt:lpstr>Презентация PowerPoint</vt:lpstr>
      <vt:lpstr>Презентация PowerPoint</vt:lpstr>
      <vt:lpstr>Вывод: проанализировав приведенные выше решения было принято рещение создать, что-то подобное. Данный продукт сможет помочь учителю делать быстрые заметки и с экономит время при объяснение материала</vt:lpstr>
      <vt:lpstr>Презентация PowerPoint</vt:lpstr>
      <vt:lpstr>Презентация PowerPoint</vt:lpstr>
      <vt:lpstr>Презентация PowerPoint</vt:lpstr>
      <vt:lpstr>Выбор языка программирования для реализации</vt:lpstr>
      <vt:lpstr>Презентация PowerPoint</vt:lpstr>
      <vt:lpstr>Презентация PowerPoint</vt:lpstr>
      <vt:lpstr>Презентация PowerPoint</vt:lpstr>
      <vt:lpstr>Преимущества ппрограммы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ПРОЕКТНАЯ РАБОТА ПО ТЕМЕ: «»</dc:title>
  <dc:creator>BIK</dc:creator>
  <cp:lastModifiedBy>Ирина Ярина</cp:lastModifiedBy>
  <cp:revision>34</cp:revision>
  <dcterms:created xsi:type="dcterms:W3CDTF">2025-02-12T18:06:24Z</dcterms:created>
  <dcterms:modified xsi:type="dcterms:W3CDTF">2025-02-19T18:18:16Z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2025-02-12T00:00:00Z</vt:filetime>
  </property>
  <property fmtid="{D5CDD505-2E9C-101B-9397-08002B2CF9AE}" pid="5" name="Producer">
    <vt:lpwstr>Microsoft® Office PowerPoint® 2007</vt:lpwstr>
  </property>
</Properties>
</file>