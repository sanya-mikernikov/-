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147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18687"/>
            <a:ext cx="9143999" cy="10335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435861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9144000" y="0"/>
                </a:moveTo>
                <a:lnTo>
                  <a:pt x="0" y="0"/>
                </a:lnTo>
                <a:lnTo>
                  <a:pt x="0" y="45720"/>
                </a:lnTo>
                <a:lnTo>
                  <a:pt x="9144000" y="4572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9144000" cy="1433830"/>
          </a:xfrm>
          <a:custGeom>
            <a:avLst/>
            <a:gdLst/>
            <a:ahLst/>
            <a:cxnLst/>
            <a:rect l="l" t="t" r="r" b="b"/>
            <a:pathLst>
              <a:path w="9144000" h="1433830">
                <a:moveTo>
                  <a:pt x="9144000" y="0"/>
                </a:moveTo>
                <a:lnTo>
                  <a:pt x="0" y="0"/>
                </a:lnTo>
                <a:lnTo>
                  <a:pt x="0" y="1433702"/>
                </a:lnTo>
                <a:lnTo>
                  <a:pt x="9144000" y="1433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8809" y="213931"/>
            <a:ext cx="7939405" cy="759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FC0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disk.yandex.ru/d/IDXXva3kYhvGjA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f"/>
          <p:cNvGrpSpPr/>
          <p:nvPr/>
        </p:nvGrpSpPr>
        <p:grpSpPr>
          <a:xfrm>
            <a:off x="-1" y="-83694"/>
            <a:ext cx="9144001" cy="6865494"/>
            <a:chOff x="-1" y="-7494"/>
            <a:chExt cx="9144001" cy="686549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-1" y="-7494"/>
              <a:ext cx="9144000" cy="5135880"/>
            </a:xfrm>
            <a:custGeom>
              <a:avLst/>
              <a:gdLst/>
              <a:ahLst/>
              <a:cxnLst/>
              <a:rect l="l" t="t" r="r" b="b"/>
              <a:pathLst>
                <a:path w="9144000" h="5135880">
                  <a:moveTo>
                    <a:pt x="9144000" y="0"/>
                  </a:moveTo>
                  <a:lnTo>
                    <a:pt x="0" y="0"/>
                  </a:lnTo>
                  <a:lnTo>
                    <a:pt x="0" y="5135372"/>
                  </a:lnTo>
                  <a:lnTo>
                    <a:pt x="9144000" y="513537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5102860"/>
              <a:ext cx="9143999" cy="1168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5128386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20">
                  <a:moveTo>
                    <a:pt x="914400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9144000" y="45719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24729" y="4405248"/>
            <a:ext cx="1745614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5A6278"/>
                </a:solidFill>
                <a:latin typeface="Arial"/>
                <a:cs typeface="Arial"/>
              </a:rPr>
              <a:t>Тип</a:t>
            </a:r>
            <a:r>
              <a:rPr sz="1400" b="1" spc="-100" dirty="0">
                <a:solidFill>
                  <a:srgbClr val="5A627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A6278"/>
                </a:solidFill>
                <a:latin typeface="Arial"/>
                <a:cs typeface="Arial"/>
              </a:rPr>
              <a:t>работы:</a:t>
            </a:r>
            <a:r>
              <a:rPr sz="1400" b="1" spc="-75" dirty="0">
                <a:solidFill>
                  <a:srgbClr val="5A6278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Проект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7276" y="6011227"/>
            <a:ext cx="71755" cy="10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solidFill>
                  <a:srgbClr val="D3D3D5"/>
                </a:solidFill>
                <a:latin typeface="Times New Roman"/>
                <a:cs typeface="Times New Roman"/>
              </a:rPr>
              <a:t>И</a:t>
            </a:r>
            <a:endParaRPr sz="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Государственное</a:t>
            </a:r>
            <a:r>
              <a:rPr sz="2000" b="0" spc="-45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бюджетное</a:t>
            </a:r>
            <a:r>
              <a:rPr sz="2000" b="0" spc="-4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общеобразовательное</a:t>
            </a:r>
            <a:r>
              <a:rPr sz="2000" b="0" spc="-65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учреждение</a:t>
            </a:r>
            <a:endParaRPr sz="20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</a:pPr>
            <a:r>
              <a:rPr sz="2000" b="0" dirty="0">
                <a:solidFill>
                  <a:srgbClr val="5A6278"/>
                </a:solidFill>
                <a:latin typeface="Microsoft Sans Serif"/>
                <a:cs typeface="Microsoft Sans Serif"/>
              </a:rPr>
              <a:t>города</a:t>
            </a:r>
            <a:r>
              <a:rPr sz="2000" b="0" spc="-85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5A6278"/>
                </a:solidFill>
                <a:latin typeface="Microsoft Sans Serif"/>
                <a:cs typeface="Microsoft Sans Serif"/>
              </a:rPr>
              <a:t>Москвы</a:t>
            </a:r>
            <a:r>
              <a:rPr sz="2000" b="0" spc="-5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5A6278"/>
                </a:solidFill>
                <a:latin typeface="Microsoft Sans Serif"/>
                <a:cs typeface="Microsoft Sans Serif"/>
              </a:rPr>
              <a:t>"Школа</a:t>
            </a:r>
            <a:r>
              <a:rPr sz="2000" b="0" spc="-5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140" dirty="0">
                <a:solidFill>
                  <a:srgbClr val="5A6278"/>
                </a:solidFill>
                <a:latin typeface="Microsoft Sans Serif"/>
                <a:cs typeface="Microsoft Sans Serif"/>
              </a:rPr>
              <a:t>№</a:t>
            </a:r>
            <a:r>
              <a:rPr sz="2000" b="0" spc="-40" dirty="0">
                <a:solidFill>
                  <a:srgbClr val="5A6278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5A6278"/>
                </a:solidFill>
                <a:latin typeface="Microsoft Sans Serif"/>
                <a:cs typeface="Microsoft Sans Serif"/>
              </a:rPr>
              <a:t>1363"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786C0A-AD5D-411B-DD1E-7B9C952A0C91}"/>
              </a:ext>
            </a:extLst>
          </p:cNvPr>
          <p:cNvSpPr txBox="1"/>
          <p:nvPr/>
        </p:nvSpPr>
        <p:spPr>
          <a:xfrm>
            <a:off x="2400299" y="1869191"/>
            <a:ext cx="4343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000" b="1" dirty="0">
                <a:solidFill>
                  <a:srgbClr val="FFC000"/>
                </a:solidFill>
              </a:rPr>
              <a:t>Проектная работа по теме </a:t>
            </a:r>
            <a:endParaRPr lang="en-US" sz="3000" b="1" dirty="0">
              <a:solidFill>
                <a:srgbClr val="FFC000"/>
              </a:solidFill>
            </a:endParaRPr>
          </a:p>
          <a:p>
            <a:pPr algn="ctr"/>
            <a:r>
              <a:rPr lang="en-US" sz="3000" b="1" dirty="0">
                <a:solidFill>
                  <a:srgbClr val="FFC000"/>
                </a:solidFill>
              </a:rPr>
              <a:t>“Brush and Canvas”</a:t>
            </a:r>
            <a:r>
              <a:rPr lang="ru-RU" sz="3000" b="1" dirty="0">
                <a:solidFill>
                  <a:srgbClr val="FFC000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416" y="0"/>
            <a:ext cx="5038344" cy="77266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804284" y="6459537"/>
            <a:ext cx="1306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2947" y="1592072"/>
          <a:ext cx="8963659" cy="33077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4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85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6910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b="1" spc="-25" dirty="0">
                          <a:latin typeface="Arial"/>
                          <a:cs typeface="Arial"/>
                        </a:rPr>
                        <a:t>ФИО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ОУ</a:t>
                      </a:r>
                      <a:r>
                        <a:rPr sz="16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класс</a:t>
                      </a:r>
                      <a:r>
                        <a:rPr sz="16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16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организация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0" dirty="0">
                          <a:latin typeface="Arial"/>
                          <a:cs typeface="Arial"/>
                        </a:rPr>
                        <a:t>и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должность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Функция</a:t>
                      </a:r>
                      <a:r>
                        <a:rPr sz="1600" b="1" spc="-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0" dirty="0">
                          <a:latin typeface="Arial"/>
                          <a:cs typeface="Arial"/>
                        </a:rPr>
                        <a:t>в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64769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проекте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Задачи</a:t>
                      </a:r>
                      <a:r>
                        <a:rPr sz="16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в</a:t>
                      </a:r>
                      <a:r>
                        <a:rPr sz="1600" b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проекте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5085"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Иванов</a:t>
                      </a:r>
                      <a:r>
                        <a:rPr sz="1500" spc="-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20" dirty="0">
                          <a:latin typeface="Microsoft Sans Serif"/>
                          <a:cs typeface="Microsoft Sans Serif"/>
                        </a:rPr>
                        <a:t>Юрий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Игоревич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ГБОУ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Школа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105" dirty="0">
                          <a:latin typeface="Microsoft Sans Serif"/>
                          <a:cs typeface="Microsoft Sans Serif"/>
                        </a:rPr>
                        <a:t>№</a:t>
                      </a:r>
                      <a:r>
                        <a:rPr sz="15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1363,</a:t>
                      </a:r>
                      <a:r>
                        <a:rPr sz="15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учитель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  <a:p>
                      <a:pPr marL="64135">
                        <a:lnSpc>
                          <a:spcPct val="100000"/>
                        </a:lnSpc>
                      </a:pP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информатики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Руководитель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8305" marR="131445" indent="-343535">
                        <a:lnSpc>
                          <a:spcPct val="100000"/>
                        </a:lnSpc>
                        <a:spcBef>
                          <a:spcPts val="465"/>
                        </a:spcBef>
                        <a:buAutoNum type="arabicPeriod"/>
                        <a:tabLst>
                          <a:tab pos="408305" algn="l"/>
                        </a:tabLst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Организация</a:t>
                      </a:r>
                      <a:r>
                        <a:rPr sz="1300" spc="2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работы</a:t>
                      </a:r>
                      <a:r>
                        <a:rPr sz="1300" spc="2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проектно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й</a:t>
                      </a:r>
                      <a:r>
                        <a:rPr sz="13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команды.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Научное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сопровождение.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8305" marR="758190" indent="-343535">
                        <a:lnSpc>
                          <a:spcPts val="1520"/>
                        </a:lnSpc>
                        <a:spcBef>
                          <a:spcPts val="80"/>
                        </a:spcBef>
                        <a:buAutoNum type="arabicPeriod"/>
                        <a:tabLst>
                          <a:tab pos="408305" algn="l"/>
                        </a:tabLst>
                      </a:pP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Контроль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тестирования программы.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ts val="1555"/>
                        </a:lnSpc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Помощь</a:t>
                      </a:r>
                      <a:r>
                        <a:rPr sz="13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в</a:t>
                      </a:r>
                      <a:r>
                        <a:rPr sz="13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реализации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 идей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5720">
                <a:tc>
                  <a:txBody>
                    <a:bodyPr/>
                    <a:lstStyle/>
                    <a:p>
                      <a:pPr marL="62865" marR="38036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500" spc="-30" dirty="0">
                          <a:latin typeface="Microsoft Sans Serif"/>
                          <a:cs typeface="Microsoft Sans Serif"/>
                        </a:rPr>
                        <a:t>Микерников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Александр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135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Учащийся</a:t>
                      </a:r>
                      <a:r>
                        <a:rPr sz="15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dirty="0">
                          <a:latin typeface="Microsoft Sans Serif"/>
                          <a:cs typeface="Microsoft Sans Serif"/>
                        </a:rPr>
                        <a:t>8Б</a:t>
                      </a:r>
                      <a:r>
                        <a:rPr sz="15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класса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769" marR="20574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500" spc="-25" dirty="0">
                          <a:latin typeface="Microsoft Sans Serif"/>
                          <a:cs typeface="Microsoft Sans Serif"/>
                        </a:rPr>
                        <a:t>Программист, Контент</a:t>
                      </a:r>
                      <a:r>
                        <a:rPr sz="15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500" spc="-60" dirty="0">
                          <a:latin typeface="Microsoft Sans Serif"/>
                          <a:cs typeface="Microsoft Sans Serif"/>
                        </a:rPr>
                        <a:t>- </a:t>
                      </a:r>
                      <a:r>
                        <a:rPr sz="1500" spc="-10" dirty="0">
                          <a:latin typeface="Microsoft Sans Serif"/>
                          <a:cs typeface="Microsoft Sans Serif"/>
                        </a:rPr>
                        <a:t>менеджер</a:t>
                      </a:r>
                      <a:endParaRPr sz="15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7670" indent="-342900">
                        <a:lnSpc>
                          <a:spcPct val="100000"/>
                        </a:lnSpc>
                        <a:spcBef>
                          <a:spcPts val="470"/>
                        </a:spcBef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Поиск</a:t>
                      </a:r>
                      <a:r>
                        <a:rPr sz="13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информации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ct val="100000"/>
                        </a:lnSpc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Анализ</a:t>
                      </a:r>
                      <a:r>
                        <a:rPr sz="13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решений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ct val="100000"/>
                        </a:lnSpc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Написание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0" dirty="0">
                          <a:latin typeface="Microsoft Sans Serif"/>
                          <a:cs typeface="Microsoft Sans Serif"/>
                        </a:rPr>
                        <a:t>кода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7670" indent="-342900">
                        <a:lnSpc>
                          <a:spcPts val="156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407670" algn="l"/>
                        </a:tabLst>
                      </a:pP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Тестирование</a:t>
                      </a:r>
                      <a:r>
                        <a:rPr sz="13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отладка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  <a:p>
                      <a:pPr marL="408305" marR="779145" indent="-343535">
                        <a:lnSpc>
                          <a:spcPct val="100000"/>
                        </a:lnSpc>
                        <a:buAutoNum type="arabicPeriod"/>
                        <a:tabLst>
                          <a:tab pos="408305" algn="l"/>
                        </a:tabLst>
                      </a:pPr>
                      <a:r>
                        <a:rPr sz="1300" dirty="0">
                          <a:latin typeface="Microsoft Sans Serif"/>
                          <a:cs typeface="Microsoft Sans Serif"/>
                        </a:rPr>
                        <a:t>Подбор</a:t>
                      </a:r>
                      <a:r>
                        <a:rPr sz="13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материала</a:t>
                      </a:r>
                      <a:r>
                        <a:rPr sz="13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300" spc="-25" dirty="0">
                          <a:latin typeface="Microsoft Sans Serif"/>
                          <a:cs typeface="Microsoft Sans Serif"/>
                        </a:rPr>
                        <a:t>для </a:t>
                      </a:r>
                      <a:r>
                        <a:rPr sz="1300" spc="-10" dirty="0">
                          <a:latin typeface="Microsoft Sans Serif"/>
                          <a:cs typeface="Microsoft Sans Serif"/>
                        </a:rPr>
                        <a:t>прещентации</a:t>
                      </a:r>
                      <a:endParaRPr sz="13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96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6636" y="4572"/>
            <a:ext cx="8083296" cy="891539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4929" y="4043807"/>
          <a:ext cx="4374515" cy="2423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7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5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Преимущества: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Недостатки: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2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Простой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интерфейс;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64160" marR="612140" indent="-17272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3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Удобно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быстро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создавать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заметки;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3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Синхронизация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Google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Удобная навигация;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64160" marR="311150" indent="-17272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3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Сохранение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формате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слайдов;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2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требует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установки;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3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Нельзя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загружать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6416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презентации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30175" indent="94615">
                        <a:lnSpc>
                          <a:spcPct val="100000"/>
                        </a:lnSpc>
                        <a:spcBef>
                          <a:spcPts val="334"/>
                        </a:spcBef>
                        <a:buChar char="•"/>
                        <a:tabLst>
                          <a:tab pos="186690" algn="l"/>
                        </a:tabLst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Перестал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поддерживать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вообще.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2075" marR="89535" indent="94615">
                        <a:lnSpc>
                          <a:spcPct val="100000"/>
                        </a:lnSpc>
                        <a:buChar char="•"/>
                        <a:tabLst>
                          <a:tab pos="186690" algn="l"/>
                        </a:tabLst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Ограничения</a:t>
                      </a:r>
                      <a:r>
                        <a:rPr sz="12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количества слайдов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61332" y="4016121"/>
          <a:ext cx="4481195" cy="24561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5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5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94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Преимущества: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Недостатки: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3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Работе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без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Интернета;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2710">
                        <a:lnSpc>
                          <a:spcPts val="144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Много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функций;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2710" marR="27114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Возможность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сохранять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слайды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скриншоты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Возможность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создавать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много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слайдов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3685" marR="353695" indent="-180975">
                        <a:lnSpc>
                          <a:spcPct val="100000"/>
                        </a:lnSpc>
                        <a:spcBef>
                          <a:spcPts val="335"/>
                        </a:spcBef>
                        <a:buChar char="•"/>
                        <a:tabLst>
                          <a:tab pos="273685" algn="l"/>
                        </a:tabLst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Разный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интерфейс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на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Linux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и</a:t>
                      </a:r>
                      <a:r>
                        <a:rPr sz="12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Windows;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73685" marR="142875" indent="-180975">
                        <a:lnSpc>
                          <a:spcPts val="1440"/>
                        </a:lnSpc>
                        <a:spcBef>
                          <a:spcPts val="45"/>
                        </a:spcBef>
                        <a:buChar char="•"/>
                        <a:tabLst>
                          <a:tab pos="273685" algn="l"/>
                        </a:tabLst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Не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всегда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удобно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делать заметки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73685" indent="-180975">
                        <a:lnSpc>
                          <a:spcPts val="1395"/>
                        </a:lnSpc>
                        <a:buChar char="•"/>
                        <a:tabLst>
                          <a:tab pos="273685" algn="l"/>
                        </a:tabLst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Долгое</a:t>
                      </a:r>
                      <a:r>
                        <a:rPr sz="12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переключение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7368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между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решениями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  <a:p>
                      <a:pPr marL="273685" marR="237490" indent="-180975">
                        <a:lnSpc>
                          <a:spcPct val="100000"/>
                        </a:lnSpc>
                        <a:buChar char="•"/>
                        <a:tabLst>
                          <a:tab pos="273685" algn="l"/>
                        </a:tabLst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Требуется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установки</a:t>
                      </a:r>
                      <a:r>
                        <a:rPr sz="12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на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компьютер.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07725" y="161632"/>
            <a:ext cx="360045" cy="377190"/>
          </a:xfrm>
          <a:prstGeom prst="rect">
            <a:avLst/>
          </a:prstGeom>
          <a:solidFill>
            <a:srgbClr val="D3D3D5"/>
          </a:solidFill>
          <a:ln w="9525">
            <a:solidFill>
              <a:srgbClr val="5A6278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05"/>
              </a:spcBef>
            </a:pPr>
            <a:r>
              <a:rPr sz="1400" spc="-50" dirty="0">
                <a:latin typeface="Microsoft Sans Serif"/>
                <a:cs typeface="Microsoft Sans Serif"/>
              </a:rPr>
              <a:t>В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725" y="538714"/>
            <a:ext cx="360045" cy="377190"/>
          </a:xfrm>
          <a:prstGeom prst="rect">
            <a:avLst/>
          </a:prstGeom>
          <a:solidFill>
            <a:srgbClr val="D3D3D5"/>
          </a:solidFill>
          <a:ln w="9525">
            <a:solidFill>
              <a:srgbClr val="5A6278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05"/>
              </a:spcBef>
            </a:pPr>
            <a:r>
              <a:rPr sz="1400" spc="-50" dirty="0">
                <a:latin typeface="Microsoft Sans Serif"/>
                <a:cs typeface="Microsoft Sans Serif"/>
              </a:rPr>
              <a:t>Р</a:t>
            </a:r>
            <a:endParaRPr sz="1400">
              <a:latin typeface="Microsoft Sans Serif"/>
              <a:cs typeface="Microsoft Sans Serif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418" y="1609471"/>
            <a:ext cx="3668267" cy="19704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8519" y="1670304"/>
            <a:ext cx="3130423" cy="196519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57095" y="3770629"/>
            <a:ext cx="14351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Google</a:t>
            </a:r>
            <a:r>
              <a:rPr sz="1400" spc="-6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Jamboard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4366" y="652191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0728" y="3827398"/>
            <a:ext cx="9804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icrosoft Sans Serif"/>
                <a:cs typeface="Microsoft Sans Serif"/>
              </a:rPr>
              <a:t>Open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Board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076" y="228600"/>
            <a:ext cx="8083296" cy="89153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3247" y="1796796"/>
            <a:ext cx="8228330" cy="12376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20"/>
              </a:spcBef>
            </a:pP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Вывод: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проанализировав</a:t>
            </a:r>
            <a:r>
              <a:rPr sz="2000" b="0" spc="-7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приведенные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выше</a:t>
            </a:r>
            <a:r>
              <a:rPr sz="20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решения</a:t>
            </a:r>
            <a:r>
              <a:rPr sz="2000" b="0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было</a:t>
            </a:r>
            <a:r>
              <a:rPr sz="2000" b="0" spc="-1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принято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рещение</a:t>
            </a:r>
            <a:r>
              <a:rPr sz="2000" b="0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создать,</a:t>
            </a:r>
            <a:r>
              <a:rPr sz="2000" b="0" spc="-8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что-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то</a:t>
            </a:r>
            <a:r>
              <a:rPr sz="2000" b="0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подобное.</a:t>
            </a:r>
            <a:r>
              <a:rPr sz="2000" b="0" spc="-6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Данный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продукт</a:t>
            </a:r>
            <a:r>
              <a:rPr sz="2000" b="0" spc="-30" dirty="0">
                <a:solidFill>
                  <a:srgbClr val="000000"/>
                </a:solidFill>
                <a:latin typeface="Microsoft Sans Serif"/>
                <a:cs typeface="Microsoft Sans Serif"/>
              </a:rPr>
              <a:t> сможет</a:t>
            </a:r>
            <a:r>
              <a:rPr sz="2000" b="0" spc="-9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помочь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учителю</a:t>
            </a:r>
            <a:r>
              <a:rPr sz="2000" b="0" spc="-7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делать</a:t>
            </a:r>
            <a:r>
              <a:rPr sz="2000" b="0" spc="-6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быстрые</a:t>
            </a:r>
            <a:r>
              <a:rPr sz="2000" b="0" spc="-3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заметки</a:t>
            </a:r>
            <a:r>
              <a:rPr sz="2000" b="0" spc="-9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и</a:t>
            </a:r>
            <a:r>
              <a:rPr sz="20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с</a:t>
            </a:r>
            <a:r>
              <a:rPr sz="20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экономит</a:t>
            </a:r>
            <a:r>
              <a:rPr sz="2000" b="0" spc="-6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время</a:t>
            </a:r>
            <a:r>
              <a:rPr sz="2000" b="0" spc="-4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при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объяснение</a:t>
            </a:r>
            <a:r>
              <a:rPr sz="2000" b="0" spc="-8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0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материала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0300" y="643809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725" y="161632"/>
            <a:ext cx="360045" cy="377190"/>
          </a:xfrm>
          <a:prstGeom prst="rect">
            <a:avLst/>
          </a:prstGeom>
          <a:solidFill>
            <a:srgbClr val="D3D3D5"/>
          </a:solidFill>
          <a:ln w="9525">
            <a:solidFill>
              <a:srgbClr val="5A6278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05"/>
              </a:spcBef>
            </a:pPr>
            <a:r>
              <a:rPr sz="1400" spc="-50" dirty="0">
                <a:latin typeface="Microsoft Sans Serif"/>
                <a:cs typeface="Microsoft Sans Serif"/>
              </a:rPr>
              <a:t>В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7725" y="538714"/>
            <a:ext cx="360045" cy="377190"/>
          </a:xfrm>
          <a:prstGeom prst="rect">
            <a:avLst/>
          </a:prstGeom>
          <a:solidFill>
            <a:srgbClr val="6E94D2"/>
          </a:solidFill>
          <a:ln w="9525">
            <a:solidFill>
              <a:srgbClr val="5A6278"/>
            </a:solidFill>
          </a:ln>
        </p:spPr>
        <p:txBody>
          <a:bodyPr vert="horz" wrap="square" lIns="0" tIns="768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605"/>
              </a:spcBef>
            </a:pPr>
            <a:r>
              <a:rPr sz="1400" spc="-50" dirty="0">
                <a:latin typeface="Microsoft Sans Serif"/>
                <a:cs typeface="Microsoft Sans Serif"/>
              </a:rPr>
              <a:t>Р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" y="480059"/>
            <a:ext cx="2240280" cy="8915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807" y="1846897"/>
            <a:ext cx="79902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0200" marR="5080" indent="-318135" algn="just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000" spc="-20" dirty="0">
                <a:latin typeface="Microsoft Sans Serif"/>
                <a:cs typeface="Microsoft Sans Serif"/>
              </a:rPr>
              <a:t>Разработать</a:t>
            </a:r>
            <a:r>
              <a:rPr sz="2000" spc="-30" dirty="0">
                <a:latin typeface="Microsoft Sans Serif"/>
                <a:cs typeface="Microsoft Sans Serif"/>
              </a:rPr>
              <a:t> веб-</a:t>
            </a:r>
            <a:r>
              <a:rPr sz="2000" dirty="0">
                <a:latin typeface="Microsoft Sans Serif"/>
                <a:cs typeface="Microsoft Sans Serif"/>
              </a:rPr>
              <a:t>приложение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для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создания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рукописных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заметок 	</a:t>
            </a:r>
            <a:r>
              <a:rPr sz="2000" dirty="0">
                <a:latin typeface="Microsoft Sans Serif"/>
                <a:cs typeface="Microsoft Sans Serif"/>
              </a:rPr>
              <a:t>и</a:t>
            </a:r>
            <a:r>
              <a:rPr sz="2000" spc="204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презентаций,</a:t>
            </a:r>
            <a:r>
              <a:rPr sz="2000" spc="2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которое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будет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доступно</a:t>
            </a:r>
            <a:r>
              <a:rPr sz="2000" spc="2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для</a:t>
            </a:r>
            <a:r>
              <a:rPr sz="2000" spc="2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использования</a:t>
            </a:r>
            <a:r>
              <a:rPr sz="2000" spc="200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на 	</a:t>
            </a:r>
            <a:r>
              <a:rPr sz="2000" dirty="0">
                <a:latin typeface="Microsoft Sans Serif"/>
                <a:cs typeface="Microsoft Sans Serif"/>
              </a:rPr>
              <a:t>любом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устройстве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с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браузером.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4366" y="652191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" y="205740"/>
            <a:ext cx="3209544" cy="9464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807" y="1765617"/>
            <a:ext cx="7962265" cy="4065904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32740" marR="688340" indent="-320675">
              <a:lnSpc>
                <a:spcPts val="2400"/>
              </a:lnSpc>
              <a:spcBef>
                <a:spcPts val="680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dirty="0">
                <a:latin typeface="Corbel"/>
                <a:cs typeface="Corbel"/>
              </a:rPr>
              <a:t>Изучить</a:t>
            </a:r>
            <a:r>
              <a:rPr sz="2500" spc="-12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принципы</a:t>
            </a:r>
            <a:r>
              <a:rPr sz="2500" spc="-7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работы</a:t>
            </a:r>
            <a:r>
              <a:rPr sz="2500" spc="-8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интерактивных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досок</a:t>
            </a:r>
            <a:r>
              <a:rPr sz="2500" spc="-105" dirty="0">
                <a:latin typeface="Corbel"/>
                <a:cs typeface="Corbel"/>
              </a:rPr>
              <a:t> </a:t>
            </a:r>
            <a:r>
              <a:rPr sz="2500" spc="-50" dirty="0">
                <a:latin typeface="Corbel"/>
                <a:cs typeface="Corbel"/>
              </a:rPr>
              <a:t>и </a:t>
            </a:r>
            <a:r>
              <a:rPr sz="2500" dirty="0">
                <a:latin typeface="Corbel"/>
                <a:cs typeface="Corbel"/>
              </a:rPr>
              <a:t>систем</a:t>
            </a:r>
            <a:r>
              <a:rPr sz="2500" spc="-7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для</a:t>
            </a:r>
            <a:r>
              <a:rPr sz="2500" spc="-7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создания</a:t>
            </a:r>
            <a:r>
              <a:rPr sz="2500" spc="-8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заметок.</a:t>
            </a:r>
            <a:endParaRPr sz="2500">
              <a:latin typeface="Corbel"/>
              <a:cs typeface="Corbel"/>
            </a:endParaRPr>
          </a:p>
          <a:p>
            <a:pPr marL="332740" marR="1205865" indent="-320675">
              <a:lnSpc>
                <a:spcPts val="24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spc="-10" dirty="0">
                <a:latin typeface="Corbel"/>
                <a:cs typeface="Corbel"/>
              </a:rPr>
              <a:t>Разработать</a:t>
            </a:r>
            <a:r>
              <a:rPr sz="2500" spc="-9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пользовательский</a:t>
            </a:r>
            <a:r>
              <a:rPr sz="2500" spc="-114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интерфейс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spc="-25" dirty="0">
                <a:latin typeface="Corbel"/>
                <a:cs typeface="Corbel"/>
              </a:rPr>
              <a:t>для </a:t>
            </a:r>
            <a:r>
              <a:rPr sz="2500" dirty="0">
                <a:latin typeface="Corbel"/>
                <a:cs typeface="Corbel"/>
              </a:rPr>
              <a:t>рисования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и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управления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слайдами.</a:t>
            </a:r>
            <a:endParaRPr sz="2500">
              <a:latin typeface="Corbel"/>
              <a:cs typeface="Corbel"/>
            </a:endParaRPr>
          </a:p>
          <a:p>
            <a:pPr marL="332740" marR="542925" indent="-320675">
              <a:lnSpc>
                <a:spcPts val="2400"/>
              </a:lnSpc>
              <a:spcBef>
                <a:spcPts val="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spc="-20" dirty="0">
                <a:latin typeface="Corbel"/>
                <a:cs typeface="Corbel"/>
              </a:rPr>
              <a:t>Реализовать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функционал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для</a:t>
            </a:r>
            <a:r>
              <a:rPr sz="2500" spc="-7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работы</a:t>
            </a:r>
            <a:r>
              <a:rPr sz="2500" spc="-3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с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рукописным </a:t>
            </a:r>
            <a:r>
              <a:rPr sz="2500" spc="-20" dirty="0">
                <a:latin typeface="Corbel"/>
                <a:cs typeface="Corbel"/>
              </a:rPr>
              <a:t>вводом</a:t>
            </a:r>
            <a:r>
              <a:rPr sz="2500" spc="-8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(мышь,</a:t>
            </a:r>
            <a:r>
              <a:rPr sz="2500" spc="-3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стилус,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сенсорный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экран).</a:t>
            </a:r>
            <a:endParaRPr sz="2500">
              <a:latin typeface="Corbel"/>
              <a:cs typeface="Corbel"/>
            </a:endParaRPr>
          </a:p>
          <a:p>
            <a:pPr marL="332740" marR="5080" indent="-320675">
              <a:lnSpc>
                <a:spcPts val="24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spc="-10" dirty="0">
                <a:latin typeface="Corbel"/>
                <a:cs typeface="Corbel"/>
              </a:rPr>
              <a:t>Добавить</a:t>
            </a:r>
            <a:r>
              <a:rPr sz="2500" spc="-9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возможность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выбора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spc="-20" dirty="0">
                <a:latin typeface="Corbel"/>
                <a:cs typeface="Corbel"/>
              </a:rPr>
              <a:t>цвета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и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толщины</a:t>
            </a:r>
            <a:r>
              <a:rPr sz="2500" spc="-5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линии </a:t>
            </a:r>
            <a:r>
              <a:rPr sz="2500" dirty="0">
                <a:latin typeface="Corbel"/>
                <a:cs typeface="Corbel"/>
              </a:rPr>
              <a:t>для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рисования.</a:t>
            </a:r>
            <a:endParaRPr sz="2500">
              <a:latin typeface="Corbel"/>
              <a:cs typeface="Corbel"/>
            </a:endParaRPr>
          </a:p>
          <a:p>
            <a:pPr marL="332740" marR="1404620" indent="-320675">
              <a:lnSpc>
                <a:spcPts val="2400"/>
              </a:lnSpc>
              <a:spcBef>
                <a:spcPts val="5"/>
              </a:spcBef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spc="-10" dirty="0">
                <a:latin typeface="Corbel"/>
                <a:cs typeface="Corbel"/>
              </a:rPr>
              <a:t>Организовать</a:t>
            </a:r>
            <a:r>
              <a:rPr sz="2500" spc="-4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систему</a:t>
            </a:r>
            <a:r>
              <a:rPr sz="2500" spc="-2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слайдов</a:t>
            </a:r>
            <a:r>
              <a:rPr sz="2500" spc="-65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для</a:t>
            </a:r>
            <a:r>
              <a:rPr sz="2500" spc="-7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создания презентаций.</a:t>
            </a:r>
            <a:endParaRPr sz="2500">
              <a:latin typeface="Corbel"/>
              <a:cs typeface="Corbel"/>
            </a:endParaRPr>
          </a:p>
          <a:p>
            <a:pPr marL="332740" marR="1686560" indent="-320675">
              <a:lnSpc>
                <a:spcPts val="2400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dirty="0">
                <a:latin typeface="Corbel"/>
                <a:cs typeface="Corbel"/>
              </a:rPr>
              <a:t>Протестировать</a:t>
            </a:r>
            <a:r>
              <a:rPr sz="2500" spc="-10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приложение</a:t>
            </a:r>
            <a:r>
              <a:rPr sz="2500" spc="-6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на</a:t>
            </a:r>
            <a:r>
              <a:rPr sz="2500" spc="-8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различных </a:t>
            </a:r>
            <a:r>
              <a:rPr sz="2500" dirty="0">
                <a:latin typeface="Corbel"/>
                <a:cs typeface="Corbel"/>
              </a:rPr>
              <a:t>устройствах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(ПК,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планшеты,</a:t>
            </a:r>
            <a:r>
              <a:rPr sz="2500" spc="-4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смартфоны).</a:t>
            </a:r>
            <a:endParaRPr sz="2500">
              <a:latin typeface="Corbel"/>
              <a:cs typeface="Corbel"/>
            </a:endParaRPr>
          </a:p>
          <a:p>
            <a:pPr marL="332740" indent="-320040">
              <a:lnSpc>
                <a:spcPts val="2425"/>
              </a:lnSpc>
              <a:buClr>
                <a:srgbClr val="EFAC00"/>
              </a:buClr>
              <a:buSzPct val="80000"/>
              <a:buFont typeface="Cambria"/>
              <a:buChar char="◾"/>
              <a:tabLst>
                <a:tab pos="332740" algn="l"/>
              </a:tabLst>
            </a:pPr>
            <a:r>
              <a:rPr sz="2500" spc="-20" dirty="0">
                <a:latin typeface="Corbel"/>
                <a:cs typeface="Corbel"/>
              </a:rPr>
              <a:t>Подготовить</a:t>
            </a:r>
            <a:r>
              <a:rPr sz="2500" spc="-7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документацию</a:t>
            </a:r>
            <a:r>
              <a:rPr sz="2500" spc="-50" dirty="0">
                <a:latin typeface="Corbel"/>
                <a:cs typeface="Corbel"/>
              </a:rPr>
              <a:t> </a:t>
            </a:r>
            <a:r>
              <a:rPr sz="2500" dirty="0">
                <a:latin typeface="Corbel"/>
                <a:cs typeface="Corbel"/>
              </a:rPr>
              <a:t>и</a:t>
            </a:r>
            <a:r>
              <a:rPr sz="2500" spc="-30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презентацию</a:t>
            </a:r>
            <a:r>
              <a:rPr sz="2500" spc="-15" dirty="0">
                <a:latin typeface="Corbel"/>
                <a:cs typeface="Corbel"/>
              </a:rPr>
              <a:t> </a:t>
            </a:r>
            <a:r>
              <a:rPr sz="2500" spc="-10" dirty="0">
                <a:latin typeface="Corbel"/>
                <a:cs typeface="Corbel"/>
              </a:rPr>
              <a:t>проекта.</a:t>
            </a:r>
            <a:endParaRPr sz="25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8033004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8807" y="1846897"/>
            <a:ext cx="5306060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5780" indent="-513080">
              <a:lnSpc>
                <a:spcPct val="100000"/>
              </a:lnSpc>
              <a:spcBef>
                <a:spcPts val="100"/>
              </a:spcBef>
              <a:buClr>
                <a:srgbClr val="EFAC00"/>
              </a:buClr>
              <a:buSzPct val="79166"/>
              <a:buAutoNum type="arabicPeriod"/>
              <a:tabLst>
                <a:tab pos="525780" algn="l"/>
              </a:tabLst>
            </a:pPr>
            <a:r>
              <a:rPr sz="2400" dirty="0">
                <a:latin typeface="Microsoft Sans Serif"/>
                <a:cs typeface="Microsoft Sans Serif"/>
              </a:rPr>
              <a:t>Сбор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информации</a:t>
            </a:r>
            <a:endParaRPr sz="2400">
              <a:latin typeface="Microsoft Sans Serif"/>
              <a:cs typeface="Microsoft Sans Serif"/>
            </a:endParaRPr>
          </a:p>
          <a:p>
            <a:pPr marL="525780" indent="-513080">
              <a:lnSpc>
                <a:spcPct val="100000"/>
              </a:lnSpc>
              <a:buClr>
                <a:srgbClr val="EFAC00"/>
              </a:buClr>
              <a:buSzPct val="79166"/>
              <a:buAutoNum type="arabicPeriod"/>
              <a:tabLst>
                <a:tab pos="525780" algn="l"/>
              </a:tabLst>
            </a:pPr>
            <a:r>
              <a:rPr sz="2400" spc="-40" dirty="0">
                <a:latin typeface="Microsoft Sans Serif"/>
                <a:cs typeface="Microsoft Sans Serif"/>
              </a:rPr>
              <a:t>Разработка</a:t>
            </a:r>
            <a:r>
              <a:rPr sz="2400" spc="-90" dirty="0">
                <a:latin typeface="Microsoft Sans Serif"/>
                <a:cs typeface="Microsoft Sans Serif"/>
              </a:rPr>
              <a:t> </a:t>
            </a:r>
            <a:r>
              <a:rPr sz="2400" spc="-25" dirty="0">
                <a:latin typeface="Microsoft Sans Serif"/>
                <a:cs typeface="Microsoft Sans Serif"/>
              </a:rPr>
              <a:t>программно</a:t>
            </a:r>
            <a:r>
              <a:rPr sz="2400" spc="-6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продукта</a:t>
            </a:r>
            <a:endParaRPr sz="2400">
              <a:latin typeface="Microsoft Sans Serif"/>
              <a:cs typeface="Microsoft Sans Serif"/>
            </a:endParaRPr>
          </a:p>
          <a:p>
            <a:pPr marL="525780" indent="-513080">
              <a:lnSpc>
                <a:spcPct val="100000"/>
              </a:lnSpc>
              <a:spcBef>
                <a:spcPts val="5"/>
              </a:spcBef>
              <a:buClr>
                <a:srgbClr val="EFAC00"/>
              </a:buClr>
              <a:buSzPct val="79166"/>
              <a:buAutoNum type="arabicPeriod"/>
              <a:tabLst>
                <a:tab pos="525780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Отладка</a:t>
            </a:r>
            <a:r>
              <a:rPr sz="2400" spc="-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и</a:t>
            </a:r>
            <a:r>
              <a:rPr sz="2400" spc="-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тестирование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023" y="256031"/>
            <a:ext cx="3899916" cy="8778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6547" y="1657350"/>
            <a:ext cx="21526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icrosoft Sans Serif"/>
                <a:cs typeface="Microsoft Sans Serif"/>
              </a:rPr>
              <a:t>Анализ</a:t>
            </a:r>
            <a:r>
              <a:rPr sz="1800" spc="-110" dirty="0">
                <a:latin typeface="Microsoft Sans Serif"/>
                <a:cs typeface="Microsoft Sans Serif"/>
              </a:rPr>
              <a:t> </a:t>
            </a:r>
            <a:r>
              <a:rPr sz="1800" spc="-25" dirty="0">
                <a:latin typeface="Microsoft Sans Serif"/>
                <a:cs typeface="Microsoft Sans Serif"/>
              </a:rPr>
              <a:t>конкурентов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6170" y="1586865"/>
            <a:ext cx="3965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Выбор</a:t>
            </a:r>
            <a:r>
              <a:rPr sz="1800" b="0" spc="-5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языка</a:t>
            </a:r>
            <a:r>
              <a:rPr sz="1800" b="0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1800" b="0" spc="-20" dirty="0">
                <a:solidFill>
                  <a:srgbClr val="000000"/>
                </a:solidFill>
                <a:latin typeface="Microsoft Sans Serif"/>
                <a:cs typeface="Microsoft Sans Serif"/>
              </a:rPr>
              <a:t>программирования</a:t>
            </a:r>
            <a:r>
              <a:rPr sz="1800" b="0" spc="-25" dirty="0">
                <a:solidFill>
                  <a:srgbClr val="000000"/>
                </a:solidFill>
                <a:latin typeface="Microsoft Sans Serif"/>
                <a:cs typeface="Microsoft Sans Serif"/>
              </a:rPr>
              <a:t> для </a:t>
            </a:r>
            <a:r>
              <a:rPr sz="1800" b="0" spc="-10" dirty="0">
                <a:solidFill>
                  <a:srgbClr val="000000"/>
                </a:solidFill>
                <a:latin typeface="Microsoft Sans Serif"/>
                <a:cs typeface="Microsoft Sans Serif"/>
              </a:rPr>
              <a:t>реализации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5988" y="2136267"/>
            <a:ext cx="4512183" cy="260731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52897" y="2652358"/>
            <a:ext cx="3756750" cy="170217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674366" y="656763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4639" y="242315"/>
            <a:ext cx="3314700" cy="89154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2095" y="1519491"/>
            <a:ext cx="23799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Создание</a:t>
            </a:r>
            <a:r>
              <a:rPr sz="1800" spc="-1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примерного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Microsoft Sans Serif"/>
                <a:cs typeface="Microsoft Sans Serif"/>
              </a:rPr>
              <a:t>интерфейса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9528" y="2891790"/>
            <a:ext cx="19361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latin typeface="Microsoft Sans Serif"/>
                <a:cs typeface="Microsoft Sans Serif"/>
              </a:rPr>
              <a:t>Фрагмент</a:t>
            </a:r>
            <a:r>
              <a:rPr sz="1800" spc="-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скрипта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89572" y="2281427"/>
            <a:ext cx="8954770" cy="4161790"/>
            <a:chOff x="189572" y="2281427"/>
            <a:chExt cx="8954770" cy="416179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572" y="2281427"/>
              <a:ext cx="4060316" cy="21412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1399" y="3331514"/>
              <a:ext cx="6832600" cy="31115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674366" y="656763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6935" y="182879"/>
            <a:ext cx="3314700" cy="800100"/>
          </a:xfrm>
          <a:prstGeom prst="rect">
            <a:avLst/>
          </a:prstGeom>
        </p:spPr>
      </p:pic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9273" y="1628394"/>
          <a:ext cx="8910955" cy="3564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7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7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756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20" dirty="0">
                          <a:latin typeface="Arial"/>
                          <a:cs typeface="Arial"/>
                        </a:rPr>
                        <a:t>Дата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Ошибки</a:t>
                      </a:r>
                      <a:r>
                        <a:rPr sz="20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в</a:t>
                      </a:r>
                      <a:r>
                        <a:rPr sz="20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latin typeface="Arial"/>
                          <a:cs typeface="Arial"/>
                        </a:rPr>
                        <a:t>программе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000" b="1" spc="-10" dirty="0">
                          <a:latin typeface="Arial"/>
                          <a:cs typeface="Arial"/>
                        </a:rPr>
                        <a:t>Статус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72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Ноябрь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Сложности</a:t>
                      </a: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6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созданием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слайдов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для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заметок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Исправлено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9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Декабрь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876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Проблемы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6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рисованием и</a:t>
                      </a:r>
                      <a:r>
                        <a:rPr sz="16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сохранением </a:t>
                      </a:r>
                      <a:r>
                        <a:rPr sz="1600" spc="-35" dirty="0">
                          <a:latin typeface="Microsoft Sans Serif"/>
                          <a:cs typeface="Microsoft Sans Serif"/>
                        </a:rPr>
                        <a:t>заметок</a:t>
                      </a:r>
                      <a:r>
                        <a:rPr sz="16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при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перемещении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по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слайдам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Исправлено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9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Январь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Обработка</a:t>
                      </a:r>
                      <a:r>
                        <a:rPr sz="16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событий</a:t>
                      </a: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нажатия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кнопок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spc="-10" dirty="0">
                          <a:latin typeface="Palatino Linotype"/>
                          <a:cs typeface="Palatino Linotype"/>
                        </a:rPr>
                        <a:t>Исправлено</a:t>
                      </a:r>
                      <a:endParaRPr sz="1400">
                        <a:latin typeface="Palatino Linotype"/>
                        <a:cs typeface="Palatino Linotype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319395"/>
            <a:chOff x="0" y="0"/>
            <a:chExt cx="9144000" cy="53193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023" y="256031"/>
              <a:ext cx="5157216" cy="87782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074" y="1522222"/>
              <a:ext cx="7199630" cy="3796791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18807" y="5412104"/>
            <a:ext cx="6879590" cy="89471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32740" marR="5080" indent="-320675">
              <a:lnSpc>
                <a:spcPts val="3240"/>
              </a:lnSpc>
              <a:spcBef>
                <a:spcPts val="509"/>
              </a:spcBef>
            </a:pPr>
            <a:r>
              <a:rPr sz="3000" spc="-10" dirty="0">
                <a:latin typeface="Corbel"/>
                <a:cs typeface="Corbel"/>
              </a:rPr>
              <a:t>Дополнительный</a:t>
            </a:r>
            <a:r>
              <a:rPr sz="3000" spc="-110" dirty="0">
                <a:latin typeface="Corbel"/>
                <a:cs typeface="Corbel"/>
              </a:rPr>
              <a:t> </a:t>
            </a:r>
            <a:r>
              <a:rPr sz="3000" spc="-10" dirty="0">
                <a:latin typeface="Corbel"/>
                <a:cs typeface="Corbel"/>
              </a:rPr>
              <a:t>материал: </a:t>
            </a:r>
            <a:r>
              <a:rPr sz="3000" u="sng" spc="-10" dirty="0">
                <a:solidFill>
                  <a:srgbClr val="168AB9"/>
                </a:solidFill>
                <a:uFill>
                  <a:solidFill>
                    <a:srgbClr val="168AB9"/>
                  </a:solidFill>
                </a:uFill>
                <a:latin typeface="Corbel"/>
                <a:cs typeface="Corbel"/>
                <a:hlinkClick r:id="rId4"/>
              </a:rPr>
              <a:t>https://disk.yandex.ru/d/IDXXva3kYhvGjA</a:t>
            </a:r>
            <a:endParaRPr sz="30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4366" y="652191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1522095"/>
            <a:chOff x="0" y="0"/>
            <a:chExt cx="9144000" cy="1522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418687"/>
              <a:ext cx="9143999" cy="10335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1435861"/>
              <a:ext cx="9144000" cy="45720"/>
            </a:xfrm>
            <a:custGeom>
              <a:avLst/>
              <a:gdLst/>
              <a:ahLst/>
              <a:cxnLst/>
              <a:rect l="l" t="t" r="r" b="b"/>
              <a:pathLst>
                <a:path w="9144000" h="45719">
                  <a:moveTo>
                    <a:pt x="9144000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9144000" y="45720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9144000" cy="1433830"/>
            </a:xfrm>
            <a:custGeom>
              <a:avLst/>
              <a:gdLst/>
              <a:ahLst/>
              <a:cxnLst/>
              <a:rect l="l" t="t" r="r" b="b"/>
              <a:pathLst>
                <a:path w="9144000" h="1433830">
                  <a:moveTo>
                    <a:pt x="9144000" y="0"/>
                  </a:moveTo>
                  <a:lnTo>
                    <a:pt x="0" y="0"/>
                  </a:lnTo>
                  <a:lnTo>
                    <a:pt x="0" y="1433702"/>
                  </a:lnTo>
                  <a:lnTo>
                    <a:pt x="9144000" y="143370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095" y="3401567"/>
            <a:ext cx="6437376" cy="4389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8807" y="1846897"/>
            <a:ext cx="419989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Microsoft Sans Serif"/>
                <a:cs typeface="Microsoft Sans Serif"/>
              </a:rPr>
              <a:t>Проект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может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работать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автономно; </a:t>
            </a:r>
            <a:r>
              <a:rPr sz="2000" dirty="0">
                <a:latin typeface="Microsoft Sans Serif"/>
                <a:cs typeface="Microsoft Sans Serif"/>
              </a:rPr>
              <a:t>Простой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понятный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интерфейс; Проект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20" dirty="0">
                <a:latin typeface="Microsoft Sans Serif"/>
                <a:cs typeface="Microsoft Sans Serif"/>
              </a:rPr>
              <a:t>работает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на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разных</a:t>
            </a:r>
            <a:r>
              <a:rPr sz="2000" spc="-7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ОС;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74366" y="6521916"/>
            <a:ext cx="1306195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ГБОУ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3E3E3E"/>
                </a:solidFill>
                <a:latin typeface="Microsoft Sans Serif"/>
                <a:cs typeface="Microsoft Sans Serif"/>
              </a:rPr>
              <a:t>Школа</a:t>
            </a:r>
            <a:r>
              <a:rPr sz="1200" spc="-35" dirty="0">
                <a:solidFill>
                  <a:srgbClr val="3E3E3E"/>
                </a:solidFill>
                <a:latin typeface="Microsoft Sans Serif"/>
                <a:cs typeface="Microsoft Sans Serif"/>
              </a:rPr>
              <a:t> </a:t>
            </a:r>
            <a:r>
              <a:rPr sz="1200" spc="-20" dirty="0">
                <a:solidFill>
                  <a:srgbClr val="3E3E3E"/>
                </a:solidFill>
                <a:latin typeface="Microsoft Sans Serif"/>
                <a:cs typeface="Microsoft Sans Serif"/>
              </a:rPr>
              <a:t>1363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802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2110" dirty="0"/>
              <a:t>П</a:t>
            </a:r>
            <a:r>
              <a:rPr sz="3300" b="0" spc="-15" baseline="-27777" dirty="0">
                <a:solidFill>
                  <a:srgbClr val="000000"/>
                </a:solidFill>
                <a:latin typeface="Microsoft Sans Serif"/>
                <a:cs typeface="Microsoft Sans Serif"/>
              </a:rPr>
              <a:t>+</a:t>
            </a:r>
            <a:r>
              <a:rPr sz="3300" b="0" spc="337" baseline="-27777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3600" dirty="0"/>
              <a:t>реимущества</a:t>
            </a:r>
            <a:r>
              <a:rPr sz="3600" spc="-20" dirty="0"/>
              <a:t> </a:t>
            </a:r>
            <a:r>
              <a:rPr sz="3600" dirty="0"/>
              <a:t>нашей</a:t>
            </a:r>
            <a:r>
              <a:rPr sz="3600" spc="-55" dirty="0"/>
              <a:t> </a:t>
            </a:r>
            <a:r>
              <a:rPr sz="3600" spc="-10" dirty="0"/>
              <a:t>программы: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9305" y="4116070"/>
            <a:ext cx="730440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Microsoft Sans Serif"/>
                <a:cs typeface="Microsoft Sans Serif"/>
              </a:rPr>
              <a:t>Добавление</a:t>
            </a:r>
            <a:r>
              <a:rPr sz="2000" spc="-10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дополнительных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функций;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Microsoft Sans Serif"/>
                <a:cs typeface="Microsoft Sans Serif"/>
              </a:rPr>
              <a:t>Адаптирование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интерфейса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для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30" dirty="0">
                <a:latin typeface="Microsoft Sans Serif"/>
                <a:cs typeface="Microsoft Sans Serif"/>
              </a:rPr>
              <a:t>образовательного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процесса;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spc="-10" dirty="0">
                <a:latin typeface="Microsoft Sans Serif"/>
                <a:cs typeface="Microsoft Sans Serif"/>
              </a:rPr>
              <a:t>Проект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работает</a:t>
            </a:r>
            <a:r>
              <a:rPr sz="2000" spc="-1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на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разных</a:t>
            </a:r>
            <a:r>
              <a:rPr sz="2000" spc="-85" dirty="0">
                <a:latin typeface="Microsoft Sans Serif"/>
                <a:cs typeface="Microsoft Sans Serif"/>
              </a:rPr>
              <a:t> </a:t>
            </a:r>
            <a:r>
              <a:rPr sz="2000" spc="-25" dirty="0">
                <a:latin typeface="Microsoft Sans Serif"/>
                <a:cs typeface="Microsoft Sans Serif"/>
              </a:rPr>
              <a:t>ОС.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68A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</TotalTime>
  <Words>436</Words>
  <Application>Microsoft Office PowerPoint</Application>
  <PresentationFormat>Экран (4:3)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Corbel</vt:lpstr>
      <vt:lpstr>Microsoft Sans Serif</vt:lpstr>
      <vt:lpstr>Palatino Linotype</vt:lpstr>
      <vt:lpstr>Times New Roman</vt:lpstr>
      <vt:lpstr>Office Theme</vt:lpstr>
      <vt:lpstr>Государственное бюджетное общеобразовательное учреждение города Москвы "Школа № 1363"</vt:lpstr>
      <vt:lpstr>Презентация PowerPoint</vt:lpstr>
      <vt:lpstr>Презентация PowerPoint</vt:lpstr>
      <vt:lpstr>Вывод: проанализировав приведенные выше решения было принято рещение создать, что-то подобное. Данный продукт сможет помочь учителю делать быстрые заметки и с экономит время при объяснение материала</vt:lpstr>
      <vt:lpstr>Презентация PowerPoint</vt:lpstr>
      <vt:lpstr>Презентация PowerPoint</vt:lpstr>
      <vt:lpstr>Презентация PowerPoint</vt:lpstr>
      <vt:lpstr>Выбор языка программирования для реализации</vt:lpstr>
      <vt:lpstr>Презентация PowerPoint</vt:lpstr>
      <vt:lpstr>Презентация PowerPoint</vt:lpstr>
      <vt:lpstr>Презентация PowerPoint</vt:lpstr>
      <vt:lpstr>П+ реимущества нашей программы: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 ПО ТЕМЕ: «»</dc:title>
  <dc:creator>BIK</dc:creator>
  <cp:lastModifiedBy>Ирина Ярина</cp:lastModifiedBy>
  <cp:revision>2</cp:revision>
  <dcterms:created xsi:type="dcterms:W3CDTF">2025-02-12T18:06:24Z</dcterms:created>
  <dcterms:modified xsi:type="dcterms:W3CDTF">2025-02-12T20:43:03Z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2025-01-19T00:00:00Z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2025-02-12T00:00:00Z</vt:filetime>
  </property>
  <property fmtid="{D5CDD505-2E9C-101B-9397-08002B2CF9AE}" pid="5" name="Producer">
    <vt:lpwstr>Microsoft® Office PowerPoint® 2007</vt:lpwstr>
  </property>
</Properties>
</file>